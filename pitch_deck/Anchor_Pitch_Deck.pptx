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5" r:id="rId11"/>
    <p:sldId id="264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56"/>
  </p:normalViewPr>
  <p:slideViewPr>
    <p:cSldViewPr snapToGrid="0" snapToObjects="1">
      <p:cViewPr varScale="1">
        <p:scale>
          <a:sx n="91" d="100"/>
          <a:sy n="91" d="100"/>
        </p:scale>
        <p:origin x="192" y="6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90E4FC-7379-5647-9E63-54E3A4A074CD}" type="datetimeFigureOut">
              <a:rPr lang="en-US" smtClean="0"/>
              <a:t>4/24/26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B11E43-CDD5-A342-82B8-E871D99E2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099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B11E43-CDD5-A342-82B8-E871D99E23B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8878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B11E43-CDD5-A342-82B8-E871D99E23B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974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251801"/>
            <a:ext cx="12191695" cy="6858000"/>
          </a:xfrm>
          <a:prstGeom prst="rect">
            <a:avLst/>
          </a:prstGeom>
          <a:solidFill>
            <a:srgbClr val="0E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ancho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640080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14450" y="67437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dirty="0">
                <a:solidFill>
                  <a:srgbClr val="EAEFED"/>
                </a:solidFill>
                <a:latin typeface="Inter"/>
              </a:rPr>
              <a:t>ANCHOR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0184"/>
            <a:ext cx="7498079" cy="42057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4000" b="1" i="0" dirty="0">
                <a:solidFill>
                  <a:srgbClr val="EAEFED"/>
                </a:solidFill>
                <a:latin typeface="Inter"/>
              </a:rPr>
              <a:t>Mental health apps only work </a:t>
            </a:r>
            <a:r>
              <a:rPr lang="en-US" sz="4000" b="1" i="0" dirty="0">
                <a:solidFill>
                  <a:srgbClr val="95A3A0"/>
                </a:solidFill>
                <a:latin typeface="Inter"/>
              </a:rPr>
              <a:t>when you open them.</a:t>
            </a:r>
          </a:p>
          <a:p>
            <a:pPr algn="l">
              <a:lnSpc>
                <a:spcPct val="115000"/>
              </a:lnSpc>
            </a:pPr>
            <a:r>
              <a:rPr sz="4000" b="1" i="0" dirty="0">
                <a:solidFill>
                  <a:srgbClr val="EAEFED"/>
                </a:solidFill>
                <a:latin typeface="Inter"/>
              </a:rPr>
              <a:t>But struggling people </a:t>
            </a:r>
            <a:r>
              <a:rPr sz="4000" b="1" i="0" dirty="0">
                <a:solidFill>
                  <a:srgbClr val="95A3A0"/>
                </a:solidFill>
                <a:latin typeface="Inter"/>
              </a:rPr>
              <a:t>don't open apps.</a:t>
            </a:r>
          </a:p>
          <a:p>
            <a:pPr algn="l">
              <a:lnSpc>
                <a:spcPct val="115000"/>
              </a:lnSpc>
            </a:pPr>
            <a:r>
              <a:rPr sz="4000" b="1" i="0" dirty="0">
                <a:solidFill>
                  <a:srgbClr val="EAEFED"/>
                </a:solidFill>
                <a:latin typeface="Inter"/>
              </a:rPr>
              <a:t>Anchor meets you </a:t>
            </a:r>
            <a:r>
              <a:rPr sz="4000" b="1" i="0" dirty="0">
                <a:solidFill>
                  <a:srgbClr val="7EAAA0"/>
                </a:solidFill>
                <a:latin typeface="Inter"/>
              </a:rPr>
              <a:t>before you break.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dirty="0">
                <a:solidFill>
                  <a:srgbClr val="95A3A0"/>
                </a:solidFill>
                <a:latin typeface="Inter"/>
              </a:rPr>
              <a:t>Proactive. Private. Personalized.</a:t>
            </a:r>
          </a:p>
        </p:txBody>
      </p:sp>
      <p:pic>
        <p:nvPicPr>
          <p:cNvPr id="8" name="Picture 7" descr="ancho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463040"/>
            <a:ext cx="3840480" cy="3840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dirty="0">
                <a:solidFill>
                  <a:srgbClr val="7EAAA0"/>
                </a:solidFill>
                <a:latin typeface="Inter"/>
              </a:rPr>
              <a:t>ANCHOR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95A3A0"/>
                </a:solidFill>
                <a:latin typeface="Inter"/>
              </a:rPr>
              <a:t>01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09728" cy="109728"/>
          </a:xfrm>
          <a:prstGeom prst="ellipse">
            <a:avLst/>
          </a:prstGeom>
          <a:solidFill>
            <a:srgbClr val="7EA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7EAAA0"/>
                </a:solidFill>
                <a:latin typeface="Inter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EAEFED"/>
                </a:solidFill>
                <a:latin typeface="Inter"/>
              </a:rPr>
              <a:t>Mental health support is broken at every layer.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532120" cy="2331720"/>
          </a:xfrm>
          <a:prstGeom prst="roundRect">
            <a:avLst>
              <a:gd name="adj" fmla="val 8000"/>
            </a:avLst>
          </a:prstGeom>
          <a:solidFill>
            <a:srgbClr val="14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91440" cy="320040"/>
          </a:xfrm>
          <a:prstGeom prst="rect">
            <a:avLst/>
          </a:prstGeom>
          <a:solidFill>
            <a:srgbClr val="7EA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4983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EAEFED"/>
                </a:solidFill>
                <a:latin typeface="Inter"/>
              </a:rPr>
              <a:t>Massive Unmet Need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68880"/>
            <a:ext cx="489204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7EAAA0"/>
                </a:solidFill>
                <a:latin typeface="Inter"/>
              </a:rPr>
              <a:t>•  </a:t>
            </a:r>
            <a:r>
              <a:rPr sz="1200" b="0" i="0">
                <a:solidFill>
                  <a:srgbClr val="95A3A0"/>
                </a:solidFill>
                <a:latin typeface="Inter"/>
              </a:rPr>
              <a:t>~1 billion people live with a mental disorder</a:t>
            </a:r>
          </a:p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7EAAA0"/>
                </a:solidFill>
                <a:latin typeface="Inter"/>
              </a:rPr>
              <a:t>•  </a:t>
            </a:r>
            <a:r>
              <a:rPr sz="1200" b="0" i="0">
                <a:solidFill>
                  <a:srgbClr val="95A3A0"/>
                </a:solidFill>
                <a:latin typeface="Inter"/>
              </a:rPr>
              <a:t>1 in 8 affected globally (WHO, 2019)</a:t>
            </a:r>
          </a:p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7EAAA0"/>
                </a:solidFill>
                <a:latin typeface="Inter"/>
              </a:rPr>
              <a:t>•  </a:t>
            </a:r>
            <a:r>
              <a:rPr sz="1200" b="0" i="0">
                <a:solidFill>
                  <a:srgbClr val="95A3A0"/>
                </a:solidFill>
                <a:latin typeface="Inter"/>
              </a:rPr>
              <a:t>&gt;70% receive no treatment (Thornicroft, AJPH 2013)</a:t>
            </a:r>
          </a:p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7EAAA0"/>
                </a:solidFill>
                <a:latin typeface="Inter"/>
              </a:rPr>
              <a:t>•  </a:t>
            </a:r>
            <a:r>
              <a:rPr sz="1200" b="0" i="0">
                <a:solidFill>
                  <a:srgbClr val="95A3A0"/>
                </a:solidFill>
                <a:latin typeface="Inter"/>
              </a:rPr>
              <a:t>1 in 2 will experience a disorder in their lifetime (Lancet Psychiatry, 2024)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1928" y="1691640"/>
            <a:ext cx="5532120" cy="2331720"/>
          </a:xfrm>
          <a:prstGeom prst="roundRect">
            <a:avLst>
              <a:gd name="adj" fmla="val 8000"/>
            </a:avLst>
          </a:prstGeom>
          <a:solidFill>
            <a:srgbClr val="14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10528" y="1920240"/>
            <a:ext cx="91440" cy="320040"/>
          </a:xfrm>
          <a:prstGeom prst="rect">
            <a:avLst/>
          </a:prstGeom>
          <a:solidFill>
            <a:srgbClr val="7EA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93408" y="1874520"/>
            <a:ext cx="4983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EAEFED"/>
                </a:solidFill>
                <a:latin typeface="Inter"/>
              </a:rPr>
              <a:t>Access Is Fundamentally Broken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93408" y="2468880"/>
            <a:ext cx="489204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7EAAA0"/>
                </a:solidFill>
                <a:latin typeface="Inter"/>
              </a:rPr>
              <a:t>•  </a:t>
            </a:r>
            <a:r>
              <a:rPr sz="1200" b="0" i="0">
                <a:solidFill>
                  <a:srgbClr val="95A3A0"/>
                </a:solidFill>
                <a:latin typeface="Inter"/>
              </a:rPr>
              <a:t>3+ month waitlists for appointments</a:t>
            </a:r>
          </a:p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7EAAA0"/>
                </a:solidFill>
                <a:latin typeface="Inter"/>
              </a:rPr>
              <a:t>•  </a:t>
            </a:r>
            <a:r>
              <a:rPr sz="1200" b="0" i="0">
                <a:solidFill>
                  <a:srgbClr val="95A3A0"/>
                </a:solidFill>
                <a:latin typeface="Inter"/>
              </a:rPr>
              <a:t>56% of psychologists not accepting new patients (APA, 2023)</a:t>
            </a:r>
          </a:p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7EAAA0"/>
                </a:solidFill>
                <a:latin typeface="Inter"/>
              </a:rPr>
              <a:t>•  </a:t>
            </a:r>
            <a:r>
              <a:rPr sz="1200" b="0" i="0">
                <a:solidFill>
                  <a:srgbClr val="95A3A0"/>
                </a:solidFill>
                <a:latin typeface="Inter"/>
              </a:rPr>
              <a:t>$150–$300 per session out-of-pocket (SimplePractice, 2024)</a:t>
            </a:r>
          </a:p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7EAAA0"/>
                </a:solidFill>
                <a:latin typeface="Inter"/>
              </a:rPr>
              <a:t>•  </a:t>
            </a:r>
            <a:r>
              <a:rPr sz="1200" b="0" i="0">
                <a:solidFill>
                  <a:srgbClr val="95A3A0"/>
                </a:solidFill>
                <a:latin typeface="Inter"/>
              </a:rPr>
              <a:t>Slow, expensive, and out of reach when it matters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24528"/>
            <a:ext cx="5532120" cy="2331720"/>
          </a:xfrm>
          <a:prstGeom prst="roundRect">
            <a:avLst>
              <a:gd name="adj" fmla="val 8000"/>
            </a:avLst>
          </a:prstGeom>
          <a:solidFill>
            <a:srgbClr val="14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7240" y="4453128"/>
            <a:ext cx="91440" cy="320040"/>
          </a:xfrm>
          <a:prstGeom prst="rect">
            <a:avLst/>
          </a:prstGeom>
          <a:solidFill>
            <a:srgbClr val="7EA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4407408"/>
            <a:ext cx="4983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EAEFED"/>
                </a:solidFill>
                <a:latin typeface="Inter"/>
              </a:rPr>
              <a:t>Existing Solutions Fail In Practice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001768"/>
            <a:ext cx="4892040" cy="9062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 dirty="0">
                <a:solidFill>
                  <a:srgbClr val="7EAAA0"/>
                </a:solidFill>
                <a:latin typeface="Inter"/>
              </a:rPr>
              <a:t>•  </a:t>
            </a:r>
            <a:r>
              <a:rPr sz="1200" b="0" i="0" dirty="0">
                <a:solidFill>
                  <a:srgbClr val="95A3A0"/>
                </a:solidFill>
                <a:latin typeface="Inter"/>
              </a:rPr>
              <a:t>Apps are reactive — you must initiate help</a:t>
            </a:r>
          </a:p>
          <a:p>
            <a:pPr algn="l">
              <a:lnSpc>
                <a:spcPct val="125000"/>
              </a:lnSpc>
            </a:pPr>
            <a:r>
              <a:rPr sz="1200" b="1" i="0" dirty="0">
                <a:solidFill>
                  <a:srgbClr val="7EAAA0"/>
                </a:solidFill>
                <a:latin typeface="Inter"/>
              </a:rPr>
              <a:t>•  </a:t>
            </a:r>
            <a:r>
              <a:rPr sz="1200" b="0" i="0" dirty="0">
                <a:solidFill>
                  <a:srgbClr val="95A3A0"/>
                </a:solidFill>
                <a:latin typeface="Inter"/>
              </a:rPr>
              <a:t>No proactive detection of distress</a:t>
            </a:r>
          </a:p>
          <a:p>
            <a:pPr algn="l">
              <a:lnSpc>
                <a:spcPct val="125000"/>
              </a:lnSpc>
            </a:pPr>
            <a:r>
              <a:rPr sz="1200" b="1" i="0" dirty="0">
                <a:solidFill>
                  <a:srgbClr val="7EAAA0"/>
                </a:solidFill>
                <a:latin typeface="Inter"/>
              </a:rPr>
              <a:t>•  </a:t>
            </a:r>
            <a:r>
              <a:rPr sz="1200" b="0" i="0" dirty="0">
                <a:solidFill>
                  <a:srgbClr val="95A3A0"/>
                </a:solidFill>
                <a:latin typeface="Inter"/>
              </a:rPr>
              <a:t>Built for engagement, not outcomes</a:t>
            </a:r>
          </a:p>
          <a:p>
            <a:pPr algn="l">
              <a:lnSpc>
                <a:spcPct val="125000"/>
              </a:lnSpc>
            </a:pPr>
            <a:r>
              <a:rPr sz="1200" b="1" i="0" dirty="0">
                <a:solidFill>
                  <a:srgbClr val="7EAAA0"/>
                </a:solidFill>
                <a:latin typeface="Inter"/>
              </a:rPr>
              <a:t>•  </a:t>
            </a:r>
            <a:r>
              <a:rPr sz="1200" b="0" i="0" dirty="0">
                <a:solidFill>
                  <a:srgbClr val="95A3A0"/>
                </a:solidFill>
                <a:latin typeface="Inter"/>
              </a:rPr>
              <a:t>Headspace, Calm, </a:t>
            </a:r>
            <a:r>
              <a:rPr lang="en-US" sz="1200" b="0" i="0" dirty="0" err="1">
                <a:solidFill>
                  <a:srgbClr val="95A3A0"/>
                </a:solidFill>
                <a:latin typeface="Inter"/>
              </a:rPr>
              <a:t>Wysa</a:t>
            </a:r>
            <a:r>
              <a:rPr sz="1200" b="0" i="0" dirty="0">
                <a:solidFill>
                  <a:srgbClr val="95A3A0"/>
                </a:solidFill>
                <a:latin typeface="Inter"/>
              </a:rPr>
              <a:t> all wait for you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81928" y="4224528"/>
            <a:ext cx="5532120" cy="2331720"/>
          </a:xfrm>
          <a:prstGeom prst="roundRect">
            <a:avLst>
              <a:gd name="adj" fmla="val 8000"/>
            </a:avLst>
          </a:prstGeom>
          <a:solidFill>
            <a:srgbClr val="14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510528" y="4453128"/>
            <a:ext cx="91440" cy="320040"/>
          </a:xfrm>
          <a:prstGeom prst="rect">
            <a:avLst/>
          </a:prstGeom>
          <a:solidFill>
            <a:srgbClr val="7EA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93408" y="4407408"/>
            <a:ext cx="4983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EAEFED"/>
                </a:solidFill>
                <a:latin typeface="Inter"/>
              </a:rPr>
              <a:t>Trust Is Collapsing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3408" y="5001768"/>
            <a:ext cx="489204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7EAAA0"/>
                </a:solidFill>
                <a:latin typeface="Inter"/>
              </a:rPr>
              <a:t>•  </a:t>
            </a:r>
            <a:r>
              <a:rPr sz="1200" b="0" i="0">
                <a:solidFill>
                  <a:srgbClr val="95A3A0"/>
                </a:solidFill>
                <a:latin typeface="Inter"/>
              </a:rPr>
              <a:t>72% of mental health apps share data with 3rd parties (2023)</a:t>
            </a:r>
          </a:p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7EAAA0"/>
                </a:solidFill>
                <a:latin typeface="Inter"/>
              </a:rPr>
              <a:t>•  </a:t>
            </a:r>
            <a:r>
              <a:rPr sz="1200" b="0" i="0">
                <a:solidFill>
                  <a:srgbClr val="95A3A0"/>
                </a:solidFill>
                <a:latin typeface="Inter"/>
              </a:rPr>
              <a:t>77% of adults worry about sharing health data with AI (KFF, 2026)</a:t>
            </a:r>
          </a:p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7EAAA0"/>
                </a:solidFill>
                <a:latin typeface="Inter"/>
              </a:rPr>
              <a:t>•  </a:t>
            </a:r>
            <a:r>
              <a:rPr sz="1200" b="0" i="0">
                <a:solidFill>
                  <a:srgbClr val="95A3A0"/>
                </a:solidFill>
                <a:latin typeface="Inter"/>
              </a:rPr>
              <a:t>Users don't trust the systems meant to help them</a:t>
            </a:r>
          </a:p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7EAAA0"/>
                </a:solidFill>
                <a:latin typeface="Inter"/>
              </a:rPr>
              <a:t>•  </a:t>
            </a:r>
            <a:r>
              <a:rPr sz="1200" b="0" i="0">
                <a:solidFill>
                  <a:srgbClr val="95A3A0"/>
                </a:solidFill>
                <a:latin typeface="Inter"/>
              </a:rPr>
              <a:t>Privacy concerns are now a conversion blocker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355080"/>
            <a:ext cx="11094415" cy="8000"/>
          </a:xfrm>
          <a:prstGeom prst="rect">
            <a:avLst/>
          </a:prstGeom>
          <a:solidFill>
            <a:srgbClr val="263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7EAAA0"/>
                </a:solidFill>
                <a:latin typeface="Inter"/>
              </a:rPr>
              <a:t>ANCHOR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6473952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95A3A0"/>
                </a:solidFill>
                <a:latin typeface="Inter"/>
              </a:rPr>
              <a:t>The Problem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95A3A0"/>
                </a:solidFill>
                <a:latin typeface="Inter"/>
              </a:rPr>
              <a:t>02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09728" cy="109728"/>
          </a:xfrm>
          <a:prstGeom prst="ellipse">
            <a:avLst/>
          </a:prstGeom>
          <a:solidFill>
            <a:srgbClr val="7EA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7EAAA0"/>
                </a:solidFill>
                <a:latin typeface="Inter"/>
              </a:rPr>
              <a:t>WHAT WE DO DIFFERENTLY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AEFED"/>
                </a:solidFill>
                <a:latin typeface="Inter"/>
              </a:rPr>
              <a:t>The app comes to you, informed — not the other way around.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657600" cy="4114800"/>
          </a:xfrm>
          <a:prstGeom prst="roundRect">
            <a:avLst>
              <a:gd name="adj" fmla="val 8000"/>
            </a:avLst>
          </a:prstGeom>
          <a:solidFill>
            <a:srgbClr val="14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7EAAA0"/>
                </a:solidFill>
                <a:latin typeface="Inte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97480"/>
            <a:ext cx="3200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EAEFED"/>
                </a:solidFill>
                <a:latin typeface="Inter"/>
              </a:rPr>
              <a:t>We detect distress before you ask for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840480"/>
            <a:ext cx="320040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95A3A0"/>
                </a:solidFill>
                <a:latin typeface="Inter"/>
              </a:rPr>
              <a:t>Anchor passively monitors HRV, sleep, and activity. An on-device classifier catches early signs of emotional distress and triggers a proactive check-in. No other consumer app does this — every competitor waits for you to open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783080"/>
            <a:ext cx="3657600" cy="4114800"/>
          </a:xfrm>
          <a:prstGeom prst="roundRect">
            <a:avLst>
              <a:gd name="adj" fmla="val 8000"/>
            </a:avLst>
          </a:prstGeom>
          <a:solidFill>
            <a:srgbClr val="14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201168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7EAAA0"/>
                </a:solidFill>
                <a:latin typeface="Inter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697480"/>
            <a:ext cx="3200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EAEFED"/>
                </a:solidFill>
                <a:latin typeface="Inter"/>
              </a:rPr>
              <a:t>Your data never leaves your phone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840480"/>
            <a:ext cx="320040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95A3A0"/>
                </a:solidFill>
                <a:latin typeface="Inter"/>
              </a:rPr>
              <a:t>The AI runs entirely on-device. No cloud inference. No data upload. No third-party exposure. Privacy isn't a feature we bolted on — it's the architecture.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783080"/>
            <a:ext cx="3657600" cy="4114800"/>
          </a:xfrm>
          <a:prstGeom prst="roundRect">
            <a:avLst>
              <a:gd name="adj" fmla="val 8000"/>
            </a:avLst>
          </a:prstGeom>
          <a:solidFill>
            <a:srgbClr val="14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41080" y="201168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7EAAA0"/>
                </a:solidFill>
                <a:latin typeface="Inter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697480"/>
            <a:ext cx="3200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EAEFED"/>
                </a:solidFill>
                <a:latin typeface="Inter"/>
              </a:rPr>
              <a:t>The AI is context-aware, not generic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3840480"/>
            <a:ext cx="320040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95A3A0"/>
                </a:solidFill>
                <a:latin typeface="Inter"/>
              </a:rPr>
              <a:t>Models are fine-tuned on mental health conversations and aligned via DPO for safe, supportive responses. Biometric state is injected into the system prompt at inference — so the AI already knows how you're doing before you say a word.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98932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7EAAA0"/>
                </a:solidFill>
                <a:latin typeface="Inter"/>
              </a:rPr>
              <a:t>“Proactive. Private. Personalized — not because it sounds good, but because the architecture demands it.”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355080"/>
            <a:ext cx="11094415" cy="8000"/>
          </a:xfrm>
          <a:prstGeom prst="rect">
            <a:avLst/>
          </a:prstGeom>
          <a:solidFill>
            <a:srgbClr val="263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7EAAA0"/>
                </a:solidFill>
                <a:latin typeface="Inter"/>
              </a:rPr>
              <a:t>ANCHOR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6473952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95A3A0"/>
                </a:solidFill>
                <a:latin typeface="Inter"/>
              </a:rPr>
              <a:t>Differentiation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95A3A0"/>
                </a:solidFill>
                <a:latin typeface="Inter"/>
              </a:rPr>
              <a:t>03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4068" y="14068"/>
            <a:ext cx="12191695" cy="6858000"/>
          </a:xfrm>
          <a:prstGeom prst="rect">
            <a:avLst/>
          </a:prstGeom>
          <a:solidFill>
            <a:srgbClr val="0E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09728" cy="109728"/>
          </a:xfrm>
          <a:prstGeom prst="ellipse">
            <a:avLst/>
          </a:prstGeom>
          <a:solidFill>
            <a:srgbClr val="7EA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7EAAA0"/>
                </a:solidFill>
                <a:latin typeface="Inter"/>
              </a:rPr>
              <a:t>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EAEFED"/>
                </a:solidFill>
                <a:latin typeface="Inter"/>
              </a:rPr>
              <a:t>A massive market, accelerating fast.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657600" cy="2377440"/>
          </a:xfrm>
          <a:prstGeom prst="roundRect">
            <a:avLst>
              <a:gd name="adj" fmla="val 8000"/>
            </a:avLst>
          </a:prstGeom>
          <a:solidFill>
            <a:srgbClr val="14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7EAAA0"/>
                </a:solidFill>
                <a:latin typeface="Inter"/>
              </a:rPr>
              <a:t>TAM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5A3A0"/>
                </a:solidFill>
                <a:latin typeface="Inter"/>
              </a:rPr>
              <a:t>Digital Mental Health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5176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EAEFED"/>
                </a:solidFill>
                <a:latin typeface="Inter"/>
              </a:rPr>
              <a:t>$27.84B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9184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7EAAA0"/>
                </a:solidFill>
                <a:latin typeface="Inter"/>
              </a:rPr>
              <a:t>2024  → $153.03B by 2034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11879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dirty="0">
                <a:solidFill>
                  <a:srgbClr val="95A3A0"/>
                </a:solidFill>
                <a:latin typeface="Inter"/>
              </a:rPr>
              <a:t>18.58% CAGR · 70% global treatment gap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737360"/>
            <a:ext cx="3657600" cy="2377440"/>
          </a:xfrm>
          <a:prstGeom prst="roundRect">
            <a:avLst>
              <a:gd name="adj" fmla="val 8000"/>
            </a:avLst>
          </a:prstGeom>
          <a:solidFill>
            <a:srgbClr val="14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192024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7EAAA0"/>
                </a:solidFill>
                <a:latin typeface="Inter"/>
              </a:rPr>
              <a:t>SAM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24028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5A3A0"/>
                </a:solidFill>
                <a:latin typeface="Inter"/>
              </a:rPr>
              <a:t>Mental Health Apps +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65176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EAEFED"/>
                </a:solidFill>
                <a:latin typeface="Inter"/>
              </a:rPr>
              <a:t>$7.48B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29184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7EAAA0"/>
                </a:solidFill>
                <a:latin typeface="Inter"/>
              </a:rPr>
              <a:t>2024  → $17.52B by 2030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611879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5A3A0"/>
                </a:solidFill>
                <a:latin typeface="Inter"/>
              </a:rPr>
              <a:t>AI-in-MH: $1.45B → $11.84B (24.15% CAGR)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1737360"/>
            <a:ext cx="3657600" cy="2377440"/>
          </a:xfrm>
          <a:prstGeom prst="roundRect">
            <a:avLst>
              <a:gd name="adj" fmla="val 8000"/>
            </a:avLst>
          </a:prstGeom>
          <a:solidFill>
            <a:srgbClr val="14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41080" y="192024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7EAAA0"/>
                </a:solidFill>
                <a:latin typeface="Inter"/>
              </a:rPr>
              <a:t>SOM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224028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5A3A0"/>
                </a:solidFill>
                <a:latin typeface="Inter"/>
              </a:rPr>
              <a:t>Young Adults 18–35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2651760"/>
            <a:ext cx="3200400" cy="5515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EAEFED"/>
                </a:solidFill>
                <a:latin typeface="Inter"/>
              </a:rPr>
              <a:t>300</a:t>
            </a:r>
            <a:r>
              <a:rPr sz="3200" b="1" dirty="0">
                <a:solidFill>
                  <a:srgbClr val="EAEFED"/>
                </a:solidFill>
                <a:latin typeface="Inter"/>
              </a:rPr>
              <a:t>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3291840"/>
            <a:ext cx="3200400" cy="1896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dirty="0">
                <a:solidFill>
                  <a:srgbClr val="7EAAA0"/>
                </a:solidFill>
                <a:latin typeface="Inter"/>
              </a:rPr>
              <a:t>users @ 0.</a:t>
            </a:r>
            <a:r>
              <a:rPr lang="en-US" sz="1100" b="0" dirty="0">
                <a:solidFill>
                  <a:srgbClr val="7EAAA0"/>
                </a:solidFill>
                <a:latin typeface="Inter"/>
              </a:rPr>
              <a:t>3</a:t>
            </a:r>
            <a:r>
              <a:rPr sz="1100" b="0" dirty="0">
                <a:solidFill>
                  <a:srgbClr val="7EAAA0"/>
                </a:solidFill>
                <a:latin typeface="Inter"/>
              </a:rPr>
              <a:t>%  = $</a:t>
            </a:r>
            <a:r>
              <a:rPr lang="en-US" sz="1100" dirty="0">
                <a:solidFill>
                  <a:srgbClr val="7EAAA0"/>
                </a:solidFill>
                <a:latin typeface="Inter"/>
              </a:rPr>
              <a:t>18</a:t>
            </a:r>
            <a:r>
              <a:rPr sz="1100" b="0" dirty="0">
                <a:solidFill>
                  <a:srgbClr val="7EAAA0"/>
                </a:solidFill>
                <a:latin typeface="Inter"/>
              </a:rPr>
              <a:t>M ARR at $5/</a:t>
            </a:r>
            <a:r>
              <a:rPr sz="1100" b="0" dirty="0" err="1">
                <a:solidFill>
                  <a:srgbClr val="7EAAA0"/>
                </a:solidFill>
                <a:latin typeface="Inter"/>
              </a:rPr>
              <a:t>mo</a:t>
            </a:r>
            <a:endParaRPr sz="1100" b="0" dirty="0">
              <a:solidFill>
                <a:srgbClr val="7EAAA0"/>
              </a:solidFill>
              <a:latin typeface="Inter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627012" y="3611879"/>
            <a:ext cx="3200400" cy="1896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100" b="0" dirty="0">
                <a:solidFill>
                  <a:srgbClr val="95A3A0"/>
                </a:solidFill>
                <a:latin typeface="Inter"/>
              </a:rPr>
              <a:t>US · </a:t>
            </a:r>
            <a:r>
              <a:rPr lang="en-US" sz="1100" b="0" dirty="0">
                <a:solidFill>
                  <a:srgbClr val="95A3A0"/>
                </a:solidFill>
                <a:latin typeface="Inter"/>
              </a:rPr>
              <a:t>UK</a:t>
            </a:r>
            <a:r>
              <a:rPr sz="1100" b="0" dirty="0">
                <a:solidFill>
                  <a:srgbClr val="95A3A0"/>
                </a:solidFill>
                <a:latin typeface="Inter"/>
              </a:rPr>
              <a:t> · Singapore </a:t>
            </a:r>
            <a:r>
              <a:rPr lang="en-US" sz="1100" dirty="0">
                <a:solidFill>
                  <a:srgbClr val="95A3A0"/>
                </a:solidFill>
                <a:latin typeface="Inter"/>
              </a:rPr>
              <a:t>· Canada</a:t>
            </a:r>
            <a:endParaRPr sz="1100" b="0" dirty="0">
              <a:solidFill>
                <a:srgbClr val="95A3A0"/>
              </a:solidFill>
              <a:latin typeface="Inter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8640" y="43434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7EAAA0"/>
                </a:solidFill>
                <a:latin typeface="Inter"/>
              </a:rPr>
              <a:t>Why Now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754880"/>
            <a:ext cx="3657600" cy="1600200"/>
          </a:xfrm>
          <a:prstGeom prst="roundRect">
            <a:avLst>
              <a:gd name="adj" fmla="val 8000"/>
            </a:avLst>
          </a:prstGeom>
          <a:solidFill>
            <a:srgbClr val="14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493776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EAEFED"/>
                </a:solidFill>
                <a:latin typeface="Inter"/>
              </a:rPr>
              <a:t>Hardware threshold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349240"/>
            <a:ext cx="3200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dirty="0">
                <a:solidFill>
                  <a:srgbClr val="95A3A0"/>
                </a:solidFill>
                <a:latin typeface="Inter"/>
              </a:rPr>
              <a:t>On-device AI inference is finally viable. No more privacy ↔ intelligence trade-off.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4754880"/>
            <a:ext cx="3657600" cy="1600200"/>
          </a:xfrm>
          <a:prstGeom prst="roundRect">
            <a:avLst>
              <a:gd name="adj" fmla="val 8000"/>
            </a:avLst>
          </a:prstGeom>
          <a:solidFill>
            <a:srgbClr val="14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09160" y="493776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dirty="0">
                <a:solidFill>
                  <a:srgbClr val="EAEFED"/>
                </a:solidFill>
                <a:latin typeface="Inter"/>
              </a:rPr>
              <a:t>Wearable ubiquity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5349240"/>
            <a:ext cx="3200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dirty="0">
                <a:solidFill>
                  <a:srgbClr val="95A3A0"/>
                </a:solidFill>
                <a:latin typeface="Inter"/>
              </a:rPr>
              <a:t>500M+ smartwatch users globally. Passive biometric tracking is mainstream.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4754880"/>
            <a:ext cx="3657600" cy="1600200"/>
          </a:xfrm>
          <a:prstGeom prst="roundRect">
            <a:avLst>
              <a:gd name="adj" fmla="val 8000"/>
            </a:avLst>
          </a:prstGeom>
          <a:solidFill>
            <a:srgbClr val="14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595360" y="493776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EAEFED"/>
                </a:solidFill>
                <a:latin typeface="Inter"/>
              </a:rPr>
              <a:t>New baseline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5335172"/>
            <a:ext cx="3200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dirty="0">
                <a:solidFill>
                  <a:srgbClr val="95A3A0"/>
                </a:solidFill>
                <a:latin typeface="Inter"/>
              </a:rPr>
              <a:t>The 25% global spike in anxiety never receded — the market is pulling for proactive care.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363080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dirty="0">
                <a:solidFill>
                  <a:srgbClr val="4E6F68"/>
                </a:solidFill>
                <a:latin typeface="Inter"/>
              </a:rPr>
              <a:t>Sources: Towards Healthcare / Precedence Research 2025 · Grand View Research 2025 · GlobeNewswire 2025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6355080"/>
            <a:ext cx="11094415" cy="8000"/>
          </a:xfrm>
          <a:prstGeom prst="rect">
            <a:avLst/>
          </a:prstGeom>
          <a:solidFill>
            <a:srgbClr val="263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7EAAA0"/>
                </a:solidFill>
                <a:latin typeface="Inter"/>
              </a:rPr>
              <a:t>ANCHOR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06240" y="6473952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95A3A0"/>
                </a:solidFill>
                <a:latin typeface="Inter"/>
              </a:rPr>
              <a:t>Market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95A3A0"/>
                </a:solidFill>
                <a:latin typeface="Inter"/>
              </a:rPr>
              <a:t>04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09728" cy="109728"/>
          </a:xfrm>
          <a:prstGeom prst="ellipse">
            <a:avLst/>
          </a:prstGeom>
          <a:solidFill>
            <a:srgbClr val="7EA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7EAAA0"/>
                </a:solidFill>
                <a:latin typeface="Inter"/>
              </a:rPr>
              <a:t>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AEFED"/>
                </a:solidFill>
                <a:latin typeface="Inter"/>
              </a:rPr>
              <a:t>The landscape is crowded — but empty where it counts.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solidFill>
            <a:srgbClr val="14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87452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7EAAA0"/>
                </a:solidFill>
                <a:latin typeface="Inter"/>
              </a:rPr>
              <a:t>Category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187452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7EAAA0"/>
                </a:solidFill>
                <a:latin typeface="Inter"/>
              </a:rPr>
              <a:t>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0" y="187452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7EAAA0"/>
                </a:solidFill>
                <a:latin typeface="Inter"/>
              </a:rPr>
              <a:t>The Flaw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9800" y="1874520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7EAAA0"/>
                </a:solidFill>
                <a:latin typeface="Inter"/>
              </a:rPr>
              <a:t>Proactive?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1874520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7EAAA0"/>
                </a:solidFill>
                <a:latin typeface="Inter"/>
              </a:rPr>
              <a:t>Private?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40280"/>
            <a:ext cx="11064240" cy="676656"/>
          </a:xfrm>
          <a:prstGeom prst="rect">
            <a:avLst/>
          </a:prstGeom>
          <a:solidFill>
            <a:srgbClr val="0E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377440"/>
            <a:ext cx="269748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EAEFED"/>
                </a:solidFill>
                <a:latin typeface="Inter"/>
              </a:rPr>
              <a:t>Traditional Teletherapy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377440"/>
            <a:ext cx="196596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EAEFED"/>
                </a:solidFill>
                <a:latin typeface="Inter"/>
              </a:rPr>
              <a:t>BetterHelp, Talkspace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2377440"/>
            <a:ext cx="397764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EAEFED"/>
                </a:solidFill>
                <a:latin typeface="Inter"/>
              </a:rPr>
              <a:t>Reactive, high friction, prohibitively expensive. Days of waiting for real-time need.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29800" y="2377440"/>
            <a:ext cx="86868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E87D7D"/>
                </a:solidFill>
                <a:latin typeface="Inter"/>
              </a:rPr>
              <a:t>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35640" y="2377440"/>
            <a:ext cx="86868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E0B56B"/>
                </a:solidFill>
                <a:latin typeface="Inter"/>
              </a:rPr>
              <a:t>Partial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916936"/>
            <a:ext cx="11064240" cy="676656"/>
          </a:xfrm>
          <a:prstGeom prst="rect">
            <a:avLst/>
          </a:prstGeom>
          <a:solidFill>
            <a:srgbClr val="14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3054096"/>
            <a:ext cx="269748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EAEFED"/>
                </a:solidFill>
                <a:latin typeface="Inter"/>
              </a:rPr>
              <a:t>Meditation &amp; Wellness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3054096"/>
            <a:ext cx="196596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EAEFED"/>
                </a:solidFill>
                <a:latin typeface="Inter"/>
              </a:rPr>
              <a:t>Calm, Headspace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3054096"/>
            <a:ext cx="397764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EAEFED"/>
                </a:solidFill>
                <a:latin typeface="Inter"/>
              </a:rPr>
              <a:t>Reactive and generic. You must realize you're stressed and choose a track.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3054096"/>
            <a:ext cx="86868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E87D7D"/>
                </a:solidFill>
                <a:latin typeface="Inter"/>
              </a:rPr>
              <a:t>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35640" y="3054096"/>
            <a:ext cx="86868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E0B56B"/>
                </a:solidFill>
                <a:latin typeface="Inter"/>
              </a:rPr>
              <a:t>Partial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593592"/>
            <a:ext cx="11064240" cy="676656"/>
          </a:xfrm>
          <a:prstGeom prst="rect">
            <a:avLst/>
          </a:prstGeom>
          <a:solidFill>
            <a:srgbClr val="0E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3730752"/>
            <a:ext cx="269748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EAEFED"/>
                </a:solidFill>
                <a:latin typeface="Inter"/>
              </a:rPr>
              <a:t>Legacy AI Chatbots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3730752"/>
            <a:ext cx="196596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EAEFED"/>
                </a:solidFill>
                <a:latin typeface="Inter"/>
              </a:rPr>
              <a:t>Wysa, Woebot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0" y="3730752"/>
            <a:ext cx="397764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EAEFED"/>
                </a:solidFill>
                <a:latin typeface="Inter"/>
              </a:rPr>
              <a:t>Cloud-hosted (privacy risk) and scripted. Feels like a phone-menu, not support.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3730752"/>
            <a:ext cx="86868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E87D7D"/>
                </a:solidFill>
                <a:latin typeface="Inter"/>
              </a:rPr>
              <a:t>No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35640" y="3730752"/>
            <a:ext cx="86868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E87D7D"/>
                </a:solidFill>
                <a:latin typeface="Inter"/>
              </a:rPr>
              <a:t>No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270248"/>
            <a:ext cx="11064240" cy="676656"/>
          </a:xfrm>
          <a:prstGeom prst="rect">
            <a:avLst/>
          </a:prstGeom>
          <a:solidFill>
            <a:srgbClr val="14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7240" y="4407408"/>
            <a:ext cx="269748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EAEFED"/>
                </a:solidFill>
                <a:latin typeface="Inter"/>
              </a:rPr>
              <a:t>AI Companions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80" y="4407408"/>
            <a:ext cx="196596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EAEFED"/>
                </a:solidFill>
                <a:latin typeface="Inter"/>
              </a:rPr>
              <a:t>Replika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5000" y="4407408"/>
            <a:ext cx="397764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EAEFED"/>
                </a:solidFill>
                <a:latin typeface="Inter"/>
              </a:rPr>
              <a:t>Built for addiction, not wellbeing. Cloud-dependent. No therapeutic guardrails.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800" y="4407408"/>
            <a:ext cx="86868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E87D7D"/>
                </a:solidFill>
                <a:latin typeface="Inter"/>
              </a:rPr>
              <a:t>No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4407408"/>
            <a:ext cx="86868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E87D7D"/>
                </a:solidFill>
                <a:latin typeface="Inter"/>
              </a:rPr>
              <a:t>No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084064"/>
            <a:ext cx="11064240" cy="813816"/>
          </a:xfrm>
          <a:prstGeom prst="roundRect">
            <a:avLst>
              <a:gd name="adj" fmla="val 8000"/>
            </a:avLst>
          </a:prstGeom>
          <a:solidFill>
            <a:srgbClr val="141C1C"/>
          </a:solidFill>
          <a:ln w="9525">
            <a:solidFill>
              <a:srgbClr val="7EAA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7240" y="5285232"/>
            <a:ext cx="2697480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7EAAA0"/>
                </a:solidFill>
                <a:latin typeface="Inter"/>
              </a:rPr>
              <a:t>Anchor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11880" y="5285232"/>
            <a:ext cx="1965960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7EAAA0"/>
                </a:solidFill>
                <a:latin typeface="Inter"/>
              </a:rPr>
              <a:t>— The only one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15000" y="5285232"/>
            <a:ext cx="3977640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7EAAA0"/>
                </a:solidFill>
                <a:latin typeface="Inter"/>
              </a:rPr>
              <a:t>Reaches out when biometrics spike. 100% on-device. DPO-aligned for grounding &amp; crisis de-escalation.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29800" y="5285232"/>
            <a:ext cx="868680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7EAAA0"/>
                </a:solidFill>
                <a:latin typeface="Inter"/>
              </a:rPr>
              <a:t>Yes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35640" y="5285232"/>
            <a:ext cx="868680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7EAAA0"/>
                </a:solidFill>
                <a:latin typeface="Inter"/>
              </a:rPr>
              <a:t>Yes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6355080"/>
            <a:ext cx="11094415" cy="8000"/>
          </a:xfrm>
          <a:prstGeom prst="rect">
            <a:avLst/>
          </a:prstGeom>
          <a:solidFill>
            <a:srgbClr val="263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7EAAA0"/>
                </a:solidFill>
                <a:latin typeface="Inter"/>
              </a:rPr>
              <a:t>ANCHOR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06240" y="6473952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95A3A0"/>
                </a:solidFill>
                <a:latin typeface="Inter"/>
              </a:rPr>
              <a:t>Competitive Landscape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95A3A0"/>
                </a:solidFill>
                <a:latin typeface="Inter"/>
              </a:rPr>
              <a:t>05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09728" cy="109728"/>
          </a:xfrm>
          <a:prstGeom prst="ellipse">
            <a:avLst/>
          </a:prstGeom>
          <a:solidFill>
            <a:srgbClr val="7EA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7EAAA0"/>
                </a:solidFill>
                <a:latin typeface="Inter"/>
              </a:rPr>
              <a:t>WHY WE'RE BETTER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AEFED"/>
                </a:solidFill>
                <a:latin typeface="Inter"/>
              </a:rPr>
              <a:t>We aren't a wrapper. Hard engineering is our defensibility.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532120" cy="2103120"/>
          </a:xfrm>
          <a:prstGeom prst="roundRect">
            <a:avLst>
              <a:gd name="adj" fmla="val 8000"/>
            </a:avLst>
          </a:prstGeom>
          <a:solidFill>
            <a:srgbClr val="14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5074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7EAAA0"/>
                </a:solidFill>
                <a:latin typeface="Inter"/>
              </a:rPr>
              <a:t>PREDICTIVE MOAT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5074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EAEFED"/>
                </a:solidFill>
                <a:latin typeface="Inter"/>
              </a:rPr>
              <a:t>Real-time biometric 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97480"/>
            <a:ext cx="5029200" cy="476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dirty="0">
                <a:solidFill>
                  <a:srgbClr val="95A3A0"/>
                </a:solidFill>
                <a:latin typeface="Inter"/>
              </a:rPr>
              <a:t>A continuous on-device classifier on </a:t>
            </a:r>
            <a:r>
              <a:rPr lang="en-US" sz="1200" b="0" dirty="0">
                <a:solidFill>
                  <a:srgbClr val="95A3A0"/>
                </a:solidFill>
                <a:latin typeface="Inter"/>
              </a:rPr>
              <a:t>biometric data </a:t>
            </a:r>
            <a:r>
              <a:rPr sz="1200" b="0" dirty="0">
                <a:solidFill>
                  <a:srgbClr val="95A3A0"/>
                </a:solidFill>
                <a:latin typeface="Inter"/>
              </a:rPr>
              <a:t>predicts emotional spikes before they peak — without draining the battery.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1928" y="1737360"/>
            <a:ext cx="5532120" cy="2103120"/>
          </a:xfrm>
          <a:prstGeom prst="roundRect">
            <a:avLst>
              <a:gd name="adj" fmla="val 8000"/>
            </a:avLst>
          </a:prstGeom>
          <a:solidFill>
            <a:srgbClr val="14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01968" y="1920240"/>
            <a:ext cx="5074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7EAAA0"/>
                </a:solidFill>
                <a:latin typeface="Inter"/>
              </a:rPr>
              <a:t>INFRASTRUCTURE MOAT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2240280"/>
            <a:ext cx="5074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EAEFED"/>
                </a:solidFill>
                <a:latin typeface="Inter"/>
              </a:rPr>
              <a:t>Local LLM orchestration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2697480"/>
            <a:ext cx="5029200" cy="476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dirty="0">
                <a:solidFill>
                  <a:srgbClr val="95A3A0"/>
                </a:solidFill>
                <a:latin typeface="Inter"/>
              </a:rPr>
              <a:t>Optimized models run 100% on-device alongside the predictive ML classifier and real-time ingestion. Zero cloud, zero latency, absolute privacy.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41648"/>
            <a:ext cx="5532120" cy="2103120"/>
          </a:xfrm>
          <a:prstGeom prst="roundRect">
            <a:avLst>
              <a:gd name="adj" fmla="val 8000"/>
            </a:avLst>
          </a:prstGeom>
          <a:solidFill>
            <a:srgbClr val="14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224528"/>
            <a:ext cx="5074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7EAAA0"/>
                </a:solidFill>
                <a:latin typeface="Inter"/>
              </a:rPr>
              <a:t>CONTEXT MOAT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44568"/>
            <a:ext cx="5074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EAEFED"/>
                </a:solidFill>
                <a:latin typeface="Inter"/>
              </a:rPr>
              <a:t>On-device memory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001768"/>
            <a:ext cx="50292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dirty="0">
                <a:solidFill>
                  <a:srgbClr val="95A3A0"/>
                </a:solidFill>
                <a:latin typeface="Inter"/>
              </a:rPr>
              <a:t>A persistent local memory retrieval engine references past struggles and growth — longitudinal context, never exposed to a server.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81928" y="4041648"/>
            <a:ext cx="5532120" cy="2103120"/>
          </a:xfrm>
          <a:prstGeom prst="roundRect">
            <a:avLst>
              <a:gd name="adj" fmla="val 8000"/>
            </a:avLst>
          </a:prstGeom>
          <a:solidFill>
            <a:srgbClr val="14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01968" y="4224528"/>
            <a:ext cx="5074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7EAAA0"/>
                </a:solidFill>
                <a:latin typeface="Inter"/>
              </a:rPr>
              <a:t>EFFICACY MOAT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4544568"/>
            <a:ext cx="5074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EAEFED"/>
                </a:solidFill>
                <a:latin typeface="Inter"/>
              </a:rPr>
              <a:t>Proprietary fine-tuning + DPO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968" y="5001768"/>
            <a:ext cx="50292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dirty="0">
                <a:solidFill>
                  <a:srgbClr val="95A3A0"/>
                </a:solidFill>
                <a:latin typeface="Inter"/>
              </a:rPr>
              <a:t>Models aligned via custom data pipelines and Direct Preference Optimization for crisis de-escalation and grounding — not generic chat.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355080"/>
            <a:ext cx="11094415" cy="8000"/>
          </a:xfrm>
          <a:prstGeom prst="rect">
            <a:avLst/>
          </a:prstGeom>
          <a:solidFill>
            <a:srgbClr val="263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7EAAA0"/>
                </a:solidFill>
                <a:latin typeface="Inter"/>
              </a:rPr>
              <a:t>ANCHOR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6473952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95A3A0"/>
                </a:solidFill>
                <a:latin typeface="Inter"/>
              </a:rPr>
              <a:t>Technical Moat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95A3A0"/>
                </a:solidFill>
                <a:latin typeface="Inter"/>
              </a:rPr>
              <a:t>06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09728" cy="109728"/>
          </a:xfrm>
          <a:prstGeom prst="ellipse">
            <a:avLst/>
          </a:prstGeom>
          <a:solidFill>
            <a:srgbClr val="7EA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7EAAA0"/>
                </a:solidFill>
                <a:latin typeface="Inter"/>
              </a:rPr>
              <a:t>THE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4480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dirty="0">
                <a:solidFill>
                  <a:srgbClr val="EAEFED"/>
                </a:solidFill>
                <a:latin typeface="Inter"/>
              </a:rPr>
              <a:t>Two </a:t>
            </a:r>
            <a:r>
              <a:rPr lang="en-US" sz="2600" b="1" dirty="0">
                <a:solidFill>
                  <a:srgbClr val="EAEFED"/>
                </a:solidFill>
                <a:latin typeface="Inter"/>
              </a:rPr>
              <a:t>school friends</a:t>
            </a:r>
            <a:r>
              <a:rPr sz="2600" b="1" dirty="0">
                <a:solidFill>
                  <a:srgbClr val="EAEFED"/>
                </a:solidFill>
                <a:latin typeface="Inter"/>
              </a:rPr>
              <a:t>.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532120" cy="3749039"/>
          </a:xfrm>
          <a:prstGeom prst="roundRect">
            <a:avLst>
              <a:gd name="adj" fmla="val 8000"/>
            </a:avLst>
          </a:prstGeom>
          <a:solidFill>
            <a:srgbClr val="14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68680" y="2103120"/>
            <a:ext cx="731520" cy="731520"/>
          </a:xfrm>
          <a:prstGeom prst="ellipse">
            <a:avLst/>
          </a:prstGeom>
          <a:solidFill>
            <a:srgbClr val="7EA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0E1414"/>
                </a:solidFill>
                <a:latin typeface="Inter"/>
              </a:rPr>
              <a:t>AJ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103120"/>
            <a:ext cx="4160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EAEFED"/>
                </a:solidFill>
                <a:latin typeface="Inter"/>
              </a:rPr>
              <a:t>Aryan Jain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468880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7EAAA0"/>
                </a:solidFill>
                <a:latin typeface="Inter"/>
              </a:rPr>
              <a:t>Founder &amp; CEO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063240"/>
            <a:ext cx="859536" cy="292608"/>
          </a:xfrm>
          <a:prstGeom prst="roundRect">
            <a:avLst>
              <a:gd name="adj" fmla="val 8000"/>
            </a:avLst>
          </a:prstGeom>
          <a:solidFill>
            <a:srgbClr val="0E1414"/>
          </a:solidFill>
          <a:ln w="9525">
            <a:solidFill>
              <a:srgbClr val="4E6F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108960"/>
            <a:ext cx="85953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7EAAA0"/>
                </a:solidFill>
                <a:latin typeface="Inter"/>
              </a:rPr>
              <a:t>NUS CVML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01368" y="3063240"/>
            <a:ext cx="612647" cy="292608"/>
          </a:xfrm>
          <a:prstGeom prst="roundRect">
            <a:avLst>
              <a:gd name="adj" fmla="val 8000"/>
            </a:avLst>
          </a:prstGeom>
          <a:solidFill>
            <a:srgbClr val="0E1414"/>
          </a:solidFill>
          <a:ln w="9525">
            <a:solidFill>
              <a:srgbClr val="4E6F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01368" y="3108960"/>
            <a:ext cx="61264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7EAAA0"/>
                </a:solidFill>
                <a:latin typeface="Inter"/>
              </a:rPr>
              <a:t>IIT-G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87167" y="3063240"/>
            <a:ext cx="859536" cy="292608"/>
          </a:xfrm>
          <a:prstGeom prst="roundRect">
            <a:avLst>
              <a:gd name="adj" fmla="val 8000"/>
            </a:avLst>
          </a:prstGeom>
          <a:solidFill>
            <a:srgbClr val="0E1414"/>
          </a:solidFill>
          <a:ln w="9525">
            <a:solidFill>
              <a:srgbClr val="4E6F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87167" y="3108960"/>
            <a:ext cx="85953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7EAAA0"/>
                </a:solidFill>
                <a:latin typeface="Inter"/>
              </a:rPr>
              <a:t>3 papers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9855" y="3063240"/>
            <a:ext cx="1435607" cy="292608"/>
          </a:xfrm>
          <a:prstGeom prst="roundRect">
            <a:avLst>
              <a:gd name="adj" fmla="val 8000"/>
            </a:avLst>
          </a:prstGeom>
          <a:solidFill>
            <a:srgbClr val="0E1414"/>
          </a:solidFill>
          <a:ln w="9525">
            <a:solidFill>
              <a:srgbClr val="4E6F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19855" y="3108960"/>
            <a:ext cx="143560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7EAAA0"/>
                </a:solidFill>
                <a:latin typeface="Inter"/>
              </a:rPr>
              <a:t>Chess Top-20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566160"/>
            <a:ext cx="4892040" cy="1828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 dirty="0">
                <a:solidFill>
                  <a:srgbClr val="7EAAA0"/>
                </a:solidFill>
                <a:latin typeface="Inter"/>
              </a:rPr>
              <a:t>— </a:t>
            </a:r>
            <a:r>
              <a:rPr sz="1200" b="0" i="0" dirty="0">
                <a:solidFill>
                  <a:srgbClr val="95A3A0"/>
                </a:solidFill>
                <a:latin typeface="Inter"/>
              </a:rPr>
              <a:t>Deep expertise in VLMs, Reinforcement Learning, and Graph ML</a:t>
            </a:r>
          </a:p>
          <a:p>
            <a:pPr algn="l">
              <a:lnSpc>
                <a:spcPct val="130000"/>
              </a:lnSpc>
            </a:pPr>
            <a:r>
              <a:rPr sz="1200" b="1" i="0" dirty="0">
                <a:solidFill>
                  <a:srgbClr val="7EAAA0"/>
                </a:solidFill>
                <a:latin typeface="Inter"/>
              </a:rPr>
              <a:t>— </a:t>
            </a:r>
            <a:r>
              <a:rPr sz="1200" b="0" i="0" dirty="0">
                <a:solidFill>
                  <a:srgbClr val="95A3A0"/>
                </a:solidFill>
                <a:latin typeface="Inter"/>
              </a:rPr>
              <a:t>Researcher at NUS CVML lab; formerly at IIT Guwahati</a:t>
            </a:r>
          </a:p>
          <a:p>
            <a:pPr algn="l">
              <a:lnSpc>
                <a:spcPct val="130000"/>
              </a:lnSpc>
            </a:pPr>
            <a:r>
              <a:rPr sz="1200" b="1" i="0" dirty="0">
                <a:solidFill>
                  <a:srgbClr val="7EAAA0"/>
                </a:solidFill>
                <a:latin typeface="Inter"/>
              </a:rPr>
              <a:t>— </a:t>
            </a:r>
            <a:r>
              <a:rPr sz="1200" b="0" i="0" dirty="0">
                <a:solidFill>
                  <a:srgbClr val="95A3A0"/>
                </a:solidFill>
                <a:latin typeface="Inter"/>
              </a:rPr>
              <a:t>Collaborating with Stanford postdocs on DL optimizations</a:t>
            </a:r>
          </a:p>
          <a:p>
            <a:pPr algn="l">
              <a:lnSpc>
                <a:spcPct val="130000"/>
              </a:lnSpc>
            </a:pPr>
            <a:r>
              <a:rPr sz="1200" b="1" i="0" dirty="0">
                <a:solidFill>
                  <a:srgbClr val="7EAAA0"/>
                </a:solidFill>
                <a:latin typeface="Inter"/>
              </a:rPr>
              <a:t>— </a:t>
            </a:r>
            <a:r>
              <a:rPr sz="1200" b="0" i="0" dirty="0">
                <a:solidFill>
                  <a:srgbClr val="95A3A0"/>
                </a:solidFill>
                <a:latin typeface="Inter"/>
              </a:rPr>
              <a:t>3 published papers (IEEE / Springer); tier-1 journal reviewer</a:t>
            </a:r>
          </a:p>
          <a:p>
            <a:pPr algn="l">
              <a:lnSpc>
                <a:spcPct val="130000"/>
              </a:lnSpc>
            </a:pPr>
            <a:r>
              <a:rPr sz="1200" b="1" i="0" dirty="0">
                <a:solidFill>
                  <a:srgbClr val="7EAAA0"/>
                </a:solidFill>
                <a:latin typeface="Inter"/>
              </a:rPr>
              <a:t>— </a:t>
            </a:r>
            <a:r>
              <a:rPr sz="1200" b="0" i="0" dirty="0">
                <a:solidFill>
                  <a:srgbClr val="95A3A0"/>
                </a:solidFill>
                <a:latin typeface="Inter"/>
              </a:rPr>
              <a:t>Top-performer across Indian Olympiads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783080"/>
            <a:ext cx="5532120" cy="3749039"/>
          </a:xfrm>
          <a:prstGeom prst="roundRect">
            <a:avLst>
              <a:gd name="adj" fmla="val 8000"/>
            </a:avLst>
          </a:prstGeom>
          <a:solidFill>
            <a:srgbClr val="14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629400" y="2103120"/>
            <a:ext cx="731520" cy="731520"/>
          </a:xfrm>
          <a:prstGeom prst="ellipse">
            <a:avLst/>
          </a:prstGeom>
          <a:solidFill>
            <a:srgbClr val="7EA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29400" y="2194560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0E1414"/>
                </a:solidFill>
                <a:latin typeface="Inter"/>
              </a:rPr>
              <a:t>TK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2103120"/>
            <a:ext cx="4160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EAEFED"/>
                </a:solidFill>
                <a:latin typeface="Inter"/>
              </a:rPr>
              <a:t>Tanmay Kukreja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2468880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7EAAA0"/>
                </a:solidFill>
                <a:latin typeface="Inter"/>
              </a:rPr>
              <a:t>Co-Founder &amp; CTO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29400" y="3063240"/>
            <a:ext cx="1600200" cy="292608"/>
          </a:xfrm>
          <a:prstGeom prst="roundRect">
            <a:avLst>
              <a:gd name="adj" fmla="val 8000"/>
            </a:avLst>
          </a:prstGeom>
          <a:solidFill>
            <a:srgbClr val="0E1414"/>
          </a:solidFill>
          <a:ln w="9525">
            <a:solidFill>
              <a:srgbClr val="4E6F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29400" y="3108960"/>
            <a:ext cx="1600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7EAAA0"/>
                </a:solidFill>
                <a:latin typeface="Inter"/>
              </a:rPr>
              <a:t>Mercedes-Benz R&amp;D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02752" y="3063240"/>
            <a:ext cx="859536" cy="292608"/>
          </a:xfrm>
          <a:prstGeom prst="roundRect">
            <a:avLst>
              <a:gd name="adj" fmla="val 8000"/>
            </a:avLst>
          </a:prstGeom>
          <a:solidFill>
            <a:srgbClr val="0E1414"/>
          </a:solidFill>
          <a:ln w="9525">
            <a:solidFill>
              <a:srgbClr val="4E6F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02752" y="3108960"/>
            <a:ext cx="85953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7EAAA0"/>
                </a:solidFill>
                <a:latin typeface="Inter"/>
              </a:rPr>
              <a:t>Deloitte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35440" y="3063240"/>
            <a:ext cx="777240" cy="292608"/>
          </a:xfrm>
          <a:prstGeom prst="roundRect">
            <a:avLst>
              <a:gd name="adj" fmla="val 8000"/>
            </a:avLst>
          </a:prstGeom>
          <a:solidFill>
            <a:srgbClr val="0E1414"/>
          </a:solidFill>
          <a:ln w="9525">
            <a:solidFill>
              <a:srgbClr val="4E6F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35440" y="310896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7EAAA0"/>
                </a:solidFill>
                <a:latin typeface="Inter"/>
              </a:rPr>
              <a:t>Hitachi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85832" y="3063240"/>
            <a:ext cx="1106424" cy="292608"/>
          </a:xfrm>
          <a:prstGeom prst="roundRect">
            <a:avLst>
              <a:gd name="adj" fmla="val 8000"/>
            </a:avLst>
          </a:prstGeom>
          <a:solidFill>
            <a:srgbClr val="0E1414"/>
          </a:solidFill>
          <a:ln w="9525">
            <a:solidFill>
              <a:srgbClr val="4E6F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85832" y="3108960"/>
            <a:ext cx="11064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7EAAA0"/>
                </a:solidFill>
                <a:latin typeface="Inter"/>
              </a:rPr>
              <a:t>Time-Series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3566160"/>
            <a:ext cx="4892040" cy="11809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200" b="1" i="0" dirty="0">
                <a:solidFill>
                  <a:srgbClr val="7EAAA0"/>
                </a:solidFill>
                <a:latin typeface="Inter"/>
              </a:rPr>
              <a:t>— </a:t>
            </a:r>
            <a:r>
              <a:rPr lang="en-US" sz="1200" dirty="0">
                <a:solidFill>
                  <a:srgbClr val="95A3A0"/>
                </a:solidFill>
                <a:latin typeface="Inter"/>
              </a:rPr>
              <a:t>Consultant</a:t>
            </a:r>
            <a:r>
              <a:rPr lang="en-US" sz="1200" b="1" i="0" dirty="0">
                <a:solidFill>
                  <a:srgbClr val="7EAAA0"/>
                </a:solidFill>
                <a:latin typeface="Inter"/>
              </a:rPr>
              <a:t> </a:t>
            </a:r>
            <a:r>
              <a:rPr sz="1200" b="0" i="0" dirty="0">
                <a:solidFill>
                  <a:srgbClr val="95A3A0"/>
                </a:solidFill>
                <a:latin typeface="Inter"/>
              </a:rPr>
              <a:t>D</a:t>
            </a:r>
            <a:r>
              <a:rPr lang="en-US" sz="1200" b="0" i="0" dirty="0">
                <a:solidFill>
                  <a:srgbClr val="95A3A0"/>
                </a:solidFill>
                <a:latin typeface="Inter"/>
              </a:rPr>
              <a:t>ata Scientist </a:t>
            </a:r>
            <a:r>
              <a:rPr sz="1200" b="0" i="0" dirty="0">
                <a:solidFill>
                  <a:srgbClr val="95A3A0"/>
                </a:solidFill>
                <a:latin typeface="Inter"/>
              </a:rPr>
              <a:t>at Mercedes-Benz R&amp;D — deep time-series expertise</a:t>
            </a:r>
          </a:p>
          <a:p>
            <a:pPr algn="l">
              <a:lnSpc>
                <a:spcPct val="130000"/>
              </a:lnSpc>
            </a:pPr>
            <a:r>
              <a:rPr sz="1200" b="1" i="0" dirty="0">
                <a:solidFill>
                  <a:srgbClr val="7EAAA0"/>
                </a:solidFill>
                <a:latin typeface="Inter"/>
              </a:rPr>
              <a:t>— </a:t>
            </a:r>
            <a:r>
              <a:rPr sz="1200" b="0" i="0" dirty="0">
                <a:solidFill>
                  <a:srgbClr val="95A3A0"/>
                </a:solidFill>
                <a:latin typeface="Inter"/>
              </a:rPr>
              <a:t>Exact architecture needed for real-time HRV/sleep streams</a:t>
            </a:r>
          </a:p>
          <a:p>
            <a:pPr algn="l">
              <a:lnSpc>
                <a:spcPct val="130000"/>
              </a:lnSpc>
            </a:pPr>
            <a:r>
              <a:rPr sz="1200" b="1" i="0" dirty="0">
                <a:solidFill>
                  <a:srgbClr val="7EAAA0"/>
                </a:solidFill>
                <a:latin typeface="Inter"/>
              </a:rPr>
              <a:t>— </a:t>
            </a:r>
            <a:r>
              <a:rPr sz="1200" b="0" i="0" dirty="0">
                <a:solidFill>
                  <a:srgbClr val="95A3A0"/>
                </a:solidFill>
                <a:latin typeface="Inter"/>
              </a:rPr>
              <a:t>Applied LLM engineering background from research tenure at Hitachi</a:t>
            </a:r>
          </a:p>
          <a:p>
            <a:pPr algn="l">
              <a:lnSpc>
                <a:spcPct val="130000"/>
              </a:lnSpc>
            </a:pPr>
            <a:r>
              <a:rPr sz="1200" b="1" i="0" dirty="0">
                <a:solidFill>
                  <a:srgbClr val="7EAAA0"/>
                </a:solidFill>
                <a:latin typeface="Inter"/>
              </a:rPr>
              <a:t>— </a:t>
            </a:r>
            <a:r>
              <a:rPr sz="1200" b="0" i="0" dirty="0">
                <a:solidFill>
                  <a:srgbClr val="95A3A0"/>
                </a:solidFill>
                <a:latin typeface="Inter"/>
              </a:rPr>
              <a:t>State-level badminton + school athlete — competitive execution DNA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669280"/>
            <a:ext cx="11064240" cy="777240"/>
          </a:xfrm>
          <a:prstGeom prst="roundRect">
            <a:avLst>
              <a:gd name="adj" fmla="val 8000"/>
            </a:avLst>
          </a:prstGeom>
          <a:solidFill>
            <a:srgbClr val="141C1C"/>
          </a:solidFill>
          <a:ln w="9525">
            <a:solidFill>
              <a:srgbClr val="7EAA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7240" y="577900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7EAAA0"/>
                </a:solidFill>
                <a:latin typeface="Inter"/>
              </a:rPr>
              <a:t>OUR UNFAIR ADVANTAGE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035040"/>
            <a:ext cx="10607040" cy="2068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dirty="0">
                <a:solidFill>
                  <a:srgbClr val="EAEFED"/>
                </a:solidFill>
                <a:latin typeface="Inter"/>
              </a:rPr>
              <a:t>Zero co-founder risk — years of building together, a co-authored paper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6355080"/>
            <a:ext cx="11094415" cy="8000"/>
          </a:xfrm>
          <a:prstGeom prst="rect">
            <a:avLst/>
          </a:prstGeom>
          <a:solidFill>
            <a:srgbClr val="263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7EAAA0"/>
                </a:solidFill>
                <a:latin typeface="Inter"/>
              </a:rPr>
              <a:t>ANCHOR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0" y="6473952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95A3A0"/>
                </a:solidFill>
                <a:latin typeface="Inter"/>
              </a:rPr>
              <a:t>Team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95A3A0"/>
                </a:solidFill>
                <a:latin typeface="Inter"/>
              </a:rPr>
              <a:t>07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03BC6-6E99-2F74-E8FA-4200B9F84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2903E0-B72B-84A0-C3DA-7E0AF63E630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FA0907D-4545-7829-5DE7-5A2C47ED5165}"/>
              </a:ext>
            </a:extLst>
          </p:cNvPr>
          <p:cNvSpPr/>
          <p:nvPr/>
        </p:nvSpPr>
        <p:spPr>
          <a:xfrm>
            <a:off x="548640" y="566928"/>
            <a:ext cx="109728" cy="109728"/>
          </a:xfrm>
          <a:prstGeom prst="ellipse">
            <a:avLst/>
          </a:prstGeom>
          <a:solidFill>
            <a:srgbClr val="7EA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B479EC-9BDC-524E-E348-694E51140B58}"/>
              </a:ext>
            </a:extLst>
          </p:cNvPr>
          <p:cNvSpPr txBox="1"/>
          <p:nvPr/>
        </p:nvSpPr>
        <p:spPr>
          <a:xfrm>
            <a:off x="795528" y="513445"/>
            <a:ext cx="5486400" cy="1723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1" dirty="0">
                <a:solidFill>
                  <a:srgbClr val="7EAAA0"/>
                </a:solidFill>
                <a:latin typeface="Inter"/>
              </a:rPr>
              <a:t>EARLY SIGNAL</a:t>
            </a:r>
            <a:endParaRPr sz="1000" b="1" dirty="0">
              <a:solidFill>
                <a:srgbClr val="7EAAA0"/>
              </a:solidFill>
              <a:latin typeface="Inte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0C5FE5-6A71-9EB1-220C-C2A72406FA5C}"/>
              </a:ext>
            </a:extLst>
          </p:cNvPr>
          <p:cNvSpPr txBox="1"/>
          <p:nvPr/>
        </p:nvSpPr>
        <p:spPr>
          <a:xfrm>
            <a:off x="548640" y="822960"/>
            <a:ext cx="10972800" cy="4480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2600" b="1" dirty="0">
                <a:solidFill>
                  <a:srgbClr val="EAEFED"/>
                </a:solidFill>
                <a:latin typeface="Inter"/>
              </a:rPr>
              <a:t>25 Pilot users. Core Thesis Validated</a:t>
            </a:r>
            <a:endParaRPr sz="2600" b="1" dirty="0">
              <a:solidFill>
                <a:srgbClr val="EAEFED"/>
              </a:solidFill>
              <a:latin typeface="Inter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C5F86AA-DB51-2266-1CF9-5AA64F49B057}"/>
              </a:ext>
            </a:extLst>
          </p:cNvPr>
          <p:cNvSpPr/>
          <p:nvPr/>
        </p:nvSpPr>
        <p:spPr>
          <a:xfrm>
            <a:off x="548639" y="1737360"/>
            <a:ext cx="11094415" cy="2122722"/>
          </a:xfrm>
          <a:prstGeom prst="roundRect">
            <a:avLst>
              <a:gd name="adj" fmla="val 8000"/>
            </a:avLst>
          </a:prstGeom>
          <a:solidFill>
            <a:srgbClr val="14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72595F-8653-D0BB-B199-A5404A7D5E35}"/>
              </a:ext>
            </a:extLst>
          </p:cNvPr>
          <p:cNvSpPr txBox="1"/>
          <p:nvPr/>
        </p:nvSpPr>
        <p:spPr>
          <a:xfrm>
            <a:off x="868680" y="1920240"/>
            <a:ext cx="5074920" cy="1723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1" dirty="0">
                <a:solidFill>
                  <a:srgbClr val="7EAAA0"/>
                </a:solidFill>
                <a:latin typeface="Inter"/>
              </a:rPr>
              <a:t>Pilot Website Metrics</a:t>
            </a:r>
            <a:endParaRPr sz="1000" b="1" dirty="0">
              <a:solidFill>
                <a:srgbClr val="7EAAA0"/>
              </a:solidFill>
              <a:latin typeface="Inter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6F277D-763C-14BB-C8E8-82B0FC827F36}"/>
              </a:ext>
            </a:extLst>
          </p:cNvPr>
          <p:cNvSpPr txBox="1"/>
          <p:nvPr/>
        </p:nvSpPr>
        <p:spPr>
          <a:xfrm>
            <a:off x="868680" y="2240280"/>
            <a:ext cx="5074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dirty="0">
                <a:solidFill>
                  <a:srgbClr val="EAEFED"/>
                </a:solidFill>
                <a:latin typeface="Inter"/>
              </a:rPr>
              <a:t>Real-time biometric ML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8A0575-9B11-9AB2-1FB4-E4C76380227C}"/>
              </a:ext>
            </a:extLst>
          </p:cNvPr>
          <p:cNvSpPr txBox="1"/>
          <p:nvPr/>
        </p:nvSpPr>
        <p:spPr>
          <a:xfrm>
            <a:off x="868680" y="2697480"/>
            <a:ext cx="5029200" cy="726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95A3A0"/>
                </a:solidFill>
                <a:latin typeface="Inter"/>
              </a:rPr>
              <a:t>8.9/10 – Average overall experience rating.</a:t>
            </a:r>
          </a:p>
          <a:p>
            <a:pPr marL="171450" indent="-171450" algn="l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rgbClr val="95A3A0"/>
                </a:solidFill>
                <a:latin typeface="Inter"/>
              </a:rPr>
              <a:t>87.5%  -</a:t>
            </a:r>
            <a:r>
              <a:rPr lang="en-US" sz="1200" dirty="0">
                <a:solidFill>
                  <a:srgbClr val="95A3A0"/>
                </a:solidFill>
                <a:latin typeface="Inter"/>
              </a:rPr>
              <a:t>Felt more Secure knowing data would never leave their device.</a:t>
            </a:r>
          </a:p>
          <a:p>
            <a:pPr marL="171450" indent="-171450" algn="l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rgbClr val="95A3A0"/>
                </a:solidFill>
                <a:latin typeface="Inter"/>
              </a:rPr>
              <a:t>88% -  The AI provided relev</a:t>
            </a:r>
            <a:r>
              <a:rPr lang="en-US" sz="1200" dirty="0">
                <a:solidFill>
                  <a:srgbClr val="95A3A0"/>
                </a:solidFill>
                <a:latin typeface="Inter"/>
              </a:rPr>
              <a:t>ant and helpful responses.</a:t>
            </a:r>
            <a:endParaRPr sz="1200" b="0" dirty="0">
              <a:solidFill>
                <a:srgbClr val="95A3A0"/>
              </a:solidFill>
              <a:latin typeface="Inter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6005F99-4EBF-C772-D63A-1E904266176F}"/>
              </a:ext>
            </a:extLst>
          </p:cNvPr>
          <p:cNvSpPr/>
          <p:nvPr/>
        </p:nvSpPr>
        <p:spPr>
          <a:xfrm>
            <a:off x="548640" y="6355080"/>
            <a:ext cx="11094415" cy="8000"/>
          </a:xfrm>
          <a:prstGeom prst="rect">
            <a:avLst/>
          </a:prstGeom>
          <a:solidFill>
            <a:srgbClr val="263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997C89-602E-FBF3-CF78-A9208E5E594B}"/>
              </a:ext>
            </a:extLst>
          </p:cNvPr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7EAAA0"/>
                </a:solidFill>
                <a:latin typeface="Inter"/>
              </a:rPr>
              <a:t>ANCHOR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0451019-7E7A-C2BD-7954-00975EE95883}"/>
              </a:ext>
            </a:extLst>
          </p:cNvPr>
          <p:cNvSpPr txBox="1"/>
          <p:nvPr/>
        </p:nvSpPr>
        <p:spPr>
          <a:xfrm>
            <a:off x="4234376" y="6473952"/>
            <a:ext cx="3749039" cy="1551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900" b="0" dirty="0">
                <a:solidFill>
                  <a:srgbClr val="95A3A0"/>
                </a:solidFill>
                <a:latin typeface="Inter"/>
              </a:rPr>
              <a:t>Early Signal</a:t>
            </a:r>
            <a:endParaRPr sz="900" b="0" dirty="0">
              <a:solidFill>
                <a:srgbClr val="95A3A0"/>
              </a:solidFill>
              <a:latin typeface="Inter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8B6C1-A8B6-160C-024C-8A4A94CB5933}"/>
              </a:ext>
            </a:extLst>
          </p:cNvPr>
          <p:cNvSpPr txBox="1"/>
          <p:nvPr/>
        </p:nvSpPr>
        <p:spPr>
          <a:xfrm>
            <a:off x="10362895" y="6473952"/>
            <a:ext cx="1280160" cy="1551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dirty="0">
                <a:solidFill>
                  <a:srgbClr val="95A3A0"/>
                </a:solidFill>
                <a:latin typeface="Inter"/>
              </a:rPr>
              <a:t>0</a:t>
            </a:r>
            <a:r>
              <a:rPr lang="en-US" sz="900" b="0" dirty="0">
                <a:solidFill>
                  <a:srgbClr val="95A3A0"/>
                </a:solidFill>
                <a:latin typeface="Inter"/>
              </a:rPr>
              <a:t>8</a:t>
            </a:r>
            <a:r>
              <a:rPr sz="900" b="0" dirty="0">
                <a:solidFill>
                  <a:srgbClr val="95A3A0"/>
                </a:solidFill>
                <a:latin typeface="Inter"/>
              </a:rPr>
              <a:t> / 1</a:t>
            </a:r>
            <a:r>
              <a:rPr lang="en-US" sz="900" b="0" dirty="0">
                <a:solidFill>
                  <a:srgbClr val="95A3A0"/>
                </a:solidFill>
                <a:latin typeface="Inter"/>
              </a:rPr>
              <a:t>2</a:t>
            </a:r>
            <a:endParaRPr sz="900" b="0" dirty="0">
              <a:solidFill>
                <a:srgbClr val="95A3A0"/>
              </a:solidFill>
              <a:latin typeface="Inter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FEDF34F3-15C4-DD24-AA00-2C06558EEDA1}"/>
              </a:ext>
            </a:extLst>
          </p:cNvPr>
          <p:cNvSpPr/>
          <p:nvPr/>
        </p:nvSpPr>
        <p:spPr>
          <a:xfrm>
            <a:off x="548639" y="4007767"/>
            <a:ext cx="11094415" cy="2122722"/>
          </a:xfrm>
          <a:prstGeom prst="roundRect">
            <a:avLst>
              <a:gd name="adj" fmla="val 8000"/>
            </a:avLst>
          </a:prstGeom>
          <a:solidFill>
            <a:srgbClr val="14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4D9368E-CAB5-E781-531C-3646DFABF2DC}"/>
              </a:ext>
            </a:extLst>
          </p:cNvPr>
          <p:cNvSpPr txBox="1"/>
          <p:nvPr/>
        </p:nvSpPr>
        <p:spPr>
          <a:xfrm>
            <a:off x="845820" y="4108362"/>
            <a:ext cx="5074920" cy="1723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1" dirty="0">
                <a:solidFill>
                  <a:srgbClr val="7EAAA0"/>
                </a:solidFill>
                <a:latin typeface="Inter"/>
              </a:rPr>
              <a:t>Potential User conversations</a:t>
            </a:r>
            <a:endParaRPr sz="1000" b="1" dirty="0">
              <a:solidFill>
                <a:srgbClr val="7EAAA0"/>
              </a:solidFill>
              <a:latin typeface="Inter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99842C1-7B54-90B7-30D5-B4C72BBC9E28}"/>
              </a:ext>
            </a:extLst>
          </p:cNvPr>
          <p:cNvSpPr txBox="1"/>
          <p:nvPr/>
        </p:nvSpPr>
        <p:spPr>
          <a:xfrm>
            <a:off x="845820" y="4871218"/>
            <a:ext cx="5029200" cy="726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95A3A0"/>
                </a:solidFill>
                <a:latin typeface="Inter"/>
              </a:rPr>
              <a:t>Spoke to about 20-30 people at the YC startup school</a:t>
            </a:r>
          </a:p>
          <a:p>
            <a:pPr marL="171450" indent="-171450" algn="l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95A3A0"/>
                </a:solidFill>
                <a:latin typeface="Inter"/>
              </a:rPr>
              <a:t>Concept of On device AI was greatly appreciated by people and the proactive part greatly captured interest.</a:t>
            </a:r>
            <a:endParaRPr sz="1200" b="0" dirty="0">
              <a:solidFill>
                <a:srgbClr val="95A3A0"/>
              </a:solidFill>
              <a:latin typeface="Inte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9E8657-E47A-11E1-7D1C-89820A444CC8}"/>
              </a:ext>
            </a:extLst>
          </p:cNvPr>
          <p:cNvSpPr txBox="1"/>
          <p:nvPr/>
        </p:nvSpPr>
        <p:spPr>
          <a:xfrm>
            <a:off x="868680" y="4348213"/>
            <a:ext cx="5074920" cy="2930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700" b="1" dirty="0">
                <a:solidFill>
                  <a:srgbClr val="EAEFED"/>
                </a:solidFill>
                <a:latin typeface="Inter"/>
              </a:rPr>
              <a:t>Face to Face conversations at YC Startup School India</a:t>
            </a:r>
            <a:endParaRPr sz="1700" b="1" dirty="0">
              <a:solidFill>
                <a:srgbClr val="EAEFED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566553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09728" cy="109728"/>
          </a:xfrm>
          <a:prstGeom prst="ellipse">
            <a:avLst/>
          </a:prstGeom>
          <a:solidFill>
            <a:srgbClr val="7EA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7EAAA0"/>
                </a:solidFill>
                <a:latin typeface="Inter"/>
              </a:rPr>
              <a:t>ROADMAP · NEXT 12 MONTHS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AEFED"/>
                </a:solidFill>
                <a:latin typeface="Inter"/>
              </a:rPr>
              <a:t>Build the moat, then scale the wedge.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11064240" cy="73152"/>
          </a:xfrm>
          <a:prstGeom prst="rect">
            <a:avLst/>
          </a:prstGeom>
          <a:solidFill>
            <a:srgbClr val="263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38912" y="1920240"/>
            <a:ext cx="274320" cy="274320"/>
          </a:xfrm>
          <a:prstGeom prst="ellipse">
            <a:avLst/>
          </a:prstGeom>
          <a:solidFill>
            <a:srgbClr val="7EA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108192" y="1920240"/>
            <a:ext cx="274320" cy="274320"/>
          </a:xfrm>
          <a:prstGeom prst="ellipse">
            <a:avLst/>
          </a:prstGeom>
          <a:solidFill>
            <a:srgbClr val="7EA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8640" y="2514600"/>
            <a:ext cx="5394960" cy="3840480"/>
          </a:xfrm>
          <a:prstGeom prst="roundRect">
            <a:avLst>
              <a:gd name="adj" fmla="val 8000"/>
            </a:avLst>
          </a:prstGeom>
          <a:solidFill>
            <a:srgbClr val="14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7432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7EAAA0"/>
                </a:solidFill>
                <a:latin typeface="Inter"/>
              </a:rPr>
              <a:t>PHASE 1  ·  MONTHS 1–6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81528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EAEFED"/>
                </a:solidFill>
                <a:latin typeface="Inter"/>
              </a:rPr>
              <a:t>Core Engineering &amp; Closed Beta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06253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>
                <a:solidFill>
                  <a:srgbClr val="7EAAA0"/>
                </a:solidFill>
                <a:latin typeface="Inter"/>
              </a:rPr>
              <a:t>•  Model optimization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6003" y="3849624"/>
            <a:ext cx="4663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dirty="0">
                <a:solidFill>
                  <a:srgbClr val="95A3A0"/>
                </a:solidFill>
                <a:latin typeface="Inter"/>
              </a:rPr>
              <a:t>Test new localized inference methods and stress-test across older smartphone hardware.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15384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7EAAA0"/>
                </a:solidFill>
                <a:latin typeface="Inter"/>
              </a:rPr>
              <a:t>•  Voice stack exploration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489704"/>
            <a:ext cx="4663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95A3A0"/>
                </a:solidFill>
                <a:latin typeface="Inter"/>
              </a:rPr>
              <a:t>Prototype integrating STT + TTS models for voice-based check-ins.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727448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7EAAA0"/>
                </a:solidFill>
                <a:latin typeface="Inter"/>
              </a:rPr>
              <a:t>•  Wearable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001768"/>
            <a:ext cx="4663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95A3A0"/>
                </a:solidFill>
                <a:latin typeface="Inter"/>
              </a:rPr>
              <a:t>Robust pipelines for real-time biometric ingestion across diverse devices.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239512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7EAAA0"/>
                </a:solidFill>
                <a:latin typeface="Inter"/>
              </a:rPr>
              <a:t>•  App refinement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513832"/>
            <a:ext cx="4663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95A3A0"/>
                </a:solidFill>
                <a:latin typeface="Inter"/>
              </a:rPr>
              <a:t>Battery, memory retrieval, and UI/UX polish.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751576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7EAAA0"/>
                </a:solidFill>
                <a:latin typeface="Inter"/>
              </a:rPr>
              <a:t>•  Closed beta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6025896"/>
            <a:ext cx="4663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95A3A0"/>
                </a:solidFill>
                <a:latin typeface="Inter"/>
              </a:rPr>
              <a:t>Ship to early adopters ASAP to validate predictive ML triggers in the wild.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514600"/>
            <a:ext cx="5394960" cy="3840480"/>
          </a:xfrm>
          <a:prstGeom prst="roundRect">
            <a:avLst>
              <a:gd name="adj" fmla="val 8000"/>
            </a:avLst>
          </a:prstGeom>
          <a:solidFill>
            <a:srgbClr val="14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37960" y="27432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7EAAA0"/>
                </a:solidFill>
                <a:latin typeface="Inter"/>
              </a:rPr>
              <a:t>PHASE 2  ·  MONTHS 6–12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081528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EAEFED"/>
                </a:solidFill>
                <a:latin typeface="Inter"/>
              </a:rPr>
              <a:t>Go-to-Market &amp; Visibility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703320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7EAAA0"/>
                </a:solidFill>
                <a:latin typeface="Inter"/>
              </a:rPr>
              <a:t>•  Aggressive marketing push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3977640"/>
            <a:ext cx="4663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95A3A0"/>
                </a:solidFill>
                <a:latin typeface="Inter"/>
              </a:rPr>
              <a:t>Shift from R&amp;D to user acquisition, targeting high-stress young adults.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215384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7EAAA0"/>
                </a:solidFill>
                <a:latin typeface="Inter"/>
              </a:rPr>
              <a:t>•  Events &amp; community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4489704"/>
            <a:ext cx="4663440" cy="187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dirty="0">
                <a:solidFill>
                  <a:srgbClr val="95A3A0"/>
                </a:solidFill>
                <a:latin typeface="Inter"/>
              </a:rPr>
              <a:t>Hosting and sponsoring targeted events in </a:t>
            </a:r>
            <a:r>
              <a:rPr lang="en-US" sz="1050" dirty="0">
                <a:solidFill>
                  <a:srgbClr val="95A3A0"/>
                </a:solidFill>
                <a:latin typeface="Inter"/>
              </a:rPr>
              <a:t>colleges</a:t>
            </a:r>
            <a:r>
              <a:rPr sz="1050" b="0" dirty="0">
                <a:solidFill>
                  <a:srgbClr val="95A3A0"/>
                </a:solidFill>
                <a:latin typeface="Inter"/>
              </a:rPr>
              <a:t>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727448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7EAAA0"/>
                </a:solidFill>
                <a:latin typeface="Inter"/>
              </a:rPr>
              <a:t>•  Strategic collaborations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5001768"/>
            <a:ext cx="4663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dirty="0">
                <a:solidFill>
                  <a:srgbClr val="95A3A0"/>
                </a:solidFill>
                <a:latin typeface="Inter"/>
              </a:rPr>
              <a:t>Partner with universities, tech hubs, and wearable communities for organic growth.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5239512"/>
            <a:ext cx="4846320" cy="2068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>
                <a:solidFill>
                  <a:srgbClr val="7EAAA0"/>
                </a:solidFill>
                <a:latin typeface="Inter"/>
              </a:rPr>
              <a:t>•  Scale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5513832"/>
            <a:ext cx="4663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dirty="0">
                <a:solidFill>
                  <a:srgbClr val="95A3A0"/>
                </a:solidFill>
                <a:latin typeface="Inter"/>
              </a:rPr>
              <a:t>Validate the freemium flip and prepare the Series-seed narrative.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6355080"/>
            <a:ext cx="11094415" cy="8000"/>
          </a:xfrm>
          <a:prstGeom prst="rect">
            <a:avLst/>
          </a:prstGeom>
          <a:solidFill>
            <a:srgbClr val="263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7EAAA0"/>
                </a:solidFill>
                <a:latin typeface="Inter"/>
              </a:rPr>
              <a:t>ANCHOR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40" y="6473952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95A3A0"/>
                </a:solidFill>
                <a:latin typeface="Inter"/>
              </a:rPr>
              <a:t>Roadmap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95A3A0"/>
                </a:solidFill>
                <a:latin typeface="Inter"/>
              </a:rPr>
              <a:t>08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09728" cy="109728"/>
          </a:xfrm>
          <a:prstGeom prst="ellipse">
            <a:avLst/>
          </a:prstGeom>
          <a:solidFill>
            <a:srgbClr val="7EA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7EAAA0"/>
                </a:solidFill>
                <a:latin typeface="Inter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EAEFED"/>
                </a:solidFill>
                <a:latin typeface="Inter"/>
              </a:rPr>
              <a:t>Growth first. Gated value second.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532120" cy="3840480"/>
          </a:xfrm>
          <a:prstGeom prst="roundRect">
            <a:avLst>
              <a:gd name="adj" fmla="val 8000"/>
            </a:avLst>
          </a:prstGeom>
          <a:solidFill>
            <a:srgbClr val="14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5074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7EAAA0"/>
                </a:solidFill>
                <a:latin typeface="Inter"/>
              </a:rPr>
              <a:t>PHASE 1  ·  THE GRAB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5074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EAEFED"/>
                </a:solidFill>
                <a:latin typeface="Inter"/>
              </a:rPr>
              <a:t>100% free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46120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7EAAA0"/>
                </a:solidFill>
                <a:latin typeface="Inter"/>
              </a:rPr>
              <a:t>•  Zero friction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520440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95A3A0"/>
                </a:solidFill>
                <a:latin typeface="Inter"/>
              </a:rPr>
              <a:t>Onboard the first 10,000 active users at no cost.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813048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7EAAA0"/>
                </a:solidFill>
                <a:latin typeface="Inter"/>
              </a:rPr>
              <a:t>•  Prove the magic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087368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95A3A0"/>
                </a:solidFill>
                <a:latin typeface="Inter"/>
              </a:rPr>
              <a:t>Validate real-time biometric triggers + persistent memory in the wild.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379976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7EAAA0"/>
                </a:solidFill>
                <a:latin typeface="Inter"/>
              </a:rPr>
              <a:t>•  Build the habit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654296"/>
            <a:ext cx="4892040" cy="187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dirty="0">
                <a:solidFill>
                  <a:srgbClr val="95A3A0"/>
                </a:solidFill>
                <a:latin typeface="Inter"/>
              </a:rPr>
              <a:t>Users experience an AI that actually</a:t>
            </a:r>
            <a:r>
              <a:rPr lang="en-US" sz="1050" b="0" dirty="0">
                <a:solidFill>
                  <a:srgbClr val="95A3A0"/>
                </a:solidFill>
                <a:latin typeface="Inter"/>
              </a:rPr>
              <a:t> </a:t>
            </a:r>
            <a:r>
              <a:rPr sz="1050" b="0" dirty="0">
                <a:solidFill>
                  <a:srgbClr val="95A3A0"/>
                </a:solidFill>
                <a:latin typeface="Inter"/>
              </a:rPr>
              <a:t>remembers them.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946904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7EAAA0"/>
                </a:solidFill>
                <a:latin typeface="Inter"/>
              </a:rPr>
              <a:t>•  Near-zero marginal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221224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95A3A0"/>
                </a:solidFill>
                <a:latin typeface="Inter"/>
              </a:rPr>
              <a:t>Inference runs on-device — free doesn't mean cloud-compute burn.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828800"/>
            <a:ext cx="5532120" cy="3840480"/>
          </a:xfrm>
          <a:prstGeom prst="roundRect">
            <a:avLst>
              <a:gd name="adj" fmla="val 8000"/>
            </a:avLst>
          </a:prstGeom>
          <a:solidFill>
            <a:srgbClr val="141C1C"/>
          </a:solidFill>
          <a:ln w="9525">
            <a:solidFill>
              <a:srgbClr val="7EAA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2057400"/>
            <a:ext cx="5074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7EAAA0"/>
                </a:solidFill>
                <a:latin typeface="Inter"/>
              </a:rPr>
              <a:t>PHASE 2  ·  THE FREEMIUM FLIP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423160"/>
            <a:ext cx="5074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EAEFED"/>
                </a:solidFill>
                <a:latin typeface="Inter"/>
              </a:rPr>
              <a:t>Anchor Premium  ·  $5/month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246120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7EAAA0"/>
                </a:solidFill>
                <a:latin typeface="Inter"/>
              </a:rPr>
              <a:t>•  Free tier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3520440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95A3A0"/>
                </a:solidFill>
                <a:latin typeface="Inter"/>
              </a:rPr>
              <a:t>Basic reactive AI + limited journaling. You can still text — no proactive edge.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813048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7EAAA0"/>
                </a:solidFill>
                <a:latin typeface="Inter"/>
              </a:rPr>
              <a:t>•  Persistent on-device 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4087368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95A3A0"/>
                </a:solidFill>
                <a:latin typeface="Inter"/>
              </a:rPr>
              <a:t>The AI retains longitudinal context of past struggles.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379976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7EAAA0"/>
                </a:solidFill>
                <a:latin typeface="Inter"/>
              </a:rPr>
              <a:t>•  Proactive biometric triggers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4654296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95A3A0"/>
                </a:solidFill>
                <a:latin typeface="Inter"/>
              </a:rPr>
              <a:t>Active monitoring of smartwatch data; AI initiates contact during stress spikes.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946904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7EAAA0"/>
                </a:solidFill>
                <a:latin typeface="Inter"/>
              </a:rPr>
              <a:t>•  Switching cost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5221224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95A3A0"/>
                </a:solidFill>
                <a:latin typeface="Inter"/>
              </a:rPr>
              <a:t>Months of personal context = immense stickiness. They keep their safety net.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43600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7EAAA0"/>
                </a:solidFill>
                <a:latin typeface="Inter"/>
              </a:rPr>
              <a:t>Economics of switching costs: once a user builds a personalized, private relationship with an AI that remembers them — conversion is inevitable.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6355080"/>
            <a:ext cx="11094415" cy="8000"/>
          </a:xfrm>
          <a:prstGeom prst="rect">
            <a:avLst/>
          </a:prstGeom>
          <a:solidFill>
            <a:srgbClr val="263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7EAAA0"/>
                </a:solidFill>
                <a:latin typeface="Inter"/>
              </a:rPr>
              <a:t>ANCHOR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6473952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95A3A0"/>
                </a:solidFill>
                <a:latin typeface="Inter"/>
              </a:rPr>
              <a:t>Business 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95A3A0"/>
                </a:solidFill>
                <a:latin typeface="Inter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09728" cy="109728"/>
          </a:xfrm>
          <a:prstGeom prst="ellipse">
            <a:avLst/>
          </a:prstGeom>
          <a:solidFill>
            <a:srgbClr val="7EA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7EAAA0"/>
                </a:solidFill>
                <a:latin typeface="Inter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>
                <a:solidFill>
                  <a:srgbClr val="EAEFED"/>
                </a:solidFill>
                <a:latin typeface="Inter"/>
              </a:rPr>
              <a:t>Raising $250K pre-seed  ·  ~₹2.3 Cr  ·  18–24 months runway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AEFED"/>
                </a:solidFill>
                <a:latin typeface="Inter"/>
              </a:rPr>
              <a:t>Top Talent &amp; Core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dirty="0">
                <a:solidFill>
                  <a:srgbClr val="95A3A0"/>
                </a:solidFill>
                <a:latin typeface="Inter"/>
              </a:rPr>
              <a:t>Mobile (</a:t>
            </a:r>
            <a:r>
              <a:rPr sz="1000" b="0" dirty="0" err="1">
                <a:solidFill>
                  <a:srgbClr val="95A3A0"/>
                </a:solidFill>
                <a:latin typeface="Inter"/>
              </a:rPr>
              <a:t>CoreML</a:t>
            </a:r>
            <a:r>
              <a:rPr sz="1000" b="0" dirty="0">
                <a:solidFill>
                  <a:srgbClr val="95A3A0"/>
                </a:solidFill>
                <a:latin typeface="Inter"/>
              </a:rPr>
              <a:t>/JNI) + UX hire, founder stipends over 24 mo.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938528"/>
            <a:ext cx="3017520" cy="256032"/>
          </a:xfrm>
          <a:prstGeom prst="roundRect">
            <a:avLst>
              <a:gd name="adj" fmla="val 8000"/>
            </a:avLst>
          </a:prstGeom>
          <a:solidFill>
            <a:srgbClr val="14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663440" y="1938528"/>
            <a:ext cx="3017520" cy="256032"/>
          </a:xfrm>
          <a:prstGeom prst="roundRect">
            <a:avLst>
              <a:gd name="adj" fmla="val 8000"/>
            </a:avLst>
          </a:prstGeom>
          <a:solidFill>
            <a:srgbClr val="7EA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2240280"/>
            <a:ext cx="3017520" cy="1896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dirty="0">
                <a:solidFill>
                  <a:srgbClr val="7EAAA0"/>
                </a:solidFill>
                <a:latin typeface="Inter"/>
              </a:rPr>
              <a:t>40%  ·  ₹9</a:t>
            </a:r>
            <a:r>
              <a:rPr lang="en-US" sz="1100" b="1" dirty="0">
                <a:solidFill>
                  <a:srgbClr val="7EAAA0"/>
                </a:solidFill>
                <a:latin typeface="Inter"/>
              </a:rPr>
              <a:t>4</a:t>
            </a:r>
            <a:r>
              <a:rPr sz="1100" b="1" dirty="0">
                <a:solidFill>
                  <a:srgbClr val="7EAAA0"/>
                </a:solidFill>
                <a:latin typeface="Inter"/>
              </a:rPr>
              <a:t>L</a:t>
            </a:r>
            <a:r>
              <a:rPr lang="en-US" sz="1100" b="1" dirty="0">
                <a:solidFill>
                  <a:srgbClr val="7EAAA0"/>
                </a:solidFill>
                <a:latin typeface="Inter"/>
              </a:rPr>
              <a:t> or $100,000</a:t>
            </a:r>
            <a:endParaRPr sz="1100" b="1" dirty="0">
              <a:solidFill>
                <a:srgbClr val="7EAAA0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2688336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AEFED"/>
                </a:solidFill>
                <a:latin typeface="Inter"/>
              </a:rPr>
              <a:t>R&amp;D &amp; Hardware Infrastructure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62656"/>
            <a:ext cx="4023360" cy="3704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dirty="0">
                <a:solidFill>
                  <a:srgbClr val="95A3A0"/>
                </a:solidFill>
                <a:latin typeface="Inter"/>
              </a:rPr>
              <a:t>Compute (₹34L</a:t>
            </a:r>
            <a:r>
              <a:rPr lang="en-US" sz="1000" b="0" dirty="0">
                <a:solidFill>
                  <a:srgbClr val="95A3A0"/>
                </a:solidFill>
                <a:latin typeface="Inter"/>
              </a:rPr>
              <a:t> or $36,000</a:t>
            </a:r>
            <a:r>
              <a:rPr sz="1000" b="0" dirty="0">
                <a:solidFill>
                  <a:srgbClr val="95A3A0"/>
                </a:solidFill>
                <a:latin typeface="Inter"/>
              </a:rPr>
              <a:t>) for DPO, fine-tuning, synthetic data. Device farm (₹5L</a:t>
            </a:r>
            <a:r>
              <a:rPr lang="en-US" sz="1000" b="0" dirty="0">
                <a:solidFill>
                  <a:srgbClr val="95A3A0"/>
                </a:solidFill>
                <a:latin typeface="Inter"/>
              </a:rPr>
              <a:t> or $$5300</a:t>
            </a:r>
            <a:r>
              <a:rPr sz="1000" b="0" dirty="0">
                <a:solidFill>
                  <a:srgbClr val="95A3A0"/>
                </a:solidFill>
                <a:latin typeface="Inter"/>
              </a:rPr>
              <a:t>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2798064"/>
            <a:ext cx="3017520" cy="256032"/>
          </a:xfrm>
          <a:prstGeom prst="roundRect">
            <a:avLst>
              <a:gd name="adj" fmla="val 8000"/>
            </a:avLst>
          </a:prstGeom>
          <a:solidFill>
            <a:srgbClr val="14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663440" y="2798064"/>
            <a:ext cx="1282446" cy="256032"/>
          </a:xfrm>
          <a:prstGeom prst="roundRect">
            <a:avLst>
              <a:gd name="adj" fmla="val 8000"/>
            </a:avLst>
          </a:prstGeom>
          <a:solidFill>
            <a:srgbClr val="7EA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63440" y="3099816"/>
            <a:ext cx="3017520" cy="1896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dirty="0">
                <a:solidFill>
                  <a:srgbClr val="7EAAA0"/>
                </a:solidFill>
                <a:latin typeface="Inter"/>
              </a:rPr>
              <a:t>17%  ·  ₹</a:t>
            </a:r>
            <a:r>
              <a:rPr lang="en-US" sz="1100" b="1" dirty="0">
                <a:solidFill>
                  <a:srgbClr val="7EAAA0"/>
                </a:solidFill>
                <a:latin typeface="Inter"/>
              </a:rPr>
              <a:t>40</a:t>
            </a:r>
            <a:r>
              <a:rPr sz="1100" b="1" dirty="0">
                <a:solidFill>
                  <a:srgbClr val="7EAAA0"/>
                </a:solidFill>
                <a:latin typeface="Inter"/>
              </a:rPr>
              <a:t>L</a:t>
            </a:r>
            <a:r>
              <a:rPr lang="en-US" sz="1100" b="1" dirty="0">
                <a:solidFill>
                  <a:srgbClr val="7EAAA0"/>
                </a:solidFill>
                <a:latin typeface="Inter"/>
              </a:rPr>
              <a:t> or $42,500</a:t>
            </a:r>
            <a:endParaRPr sz="1100" b="1" dirty="0">
              <a:solidFill>
                <a:srgbClr val="7EAAA0"/>
              </a:solidFill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" y="3547872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AEFED"/>
                </a:solidFill>
                <a:latin typeface="Inter"/>
              </a:rPr>
              <a:t>Legal, Compliance &amp; 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822192"/>
            <a:ext cx="4023360" cy="3704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dirty="0">
                <a:solidFill>
                  <a:srgbClr val="95A3A0"/>
                </a:solidFill>
                <a:latin typeface="Inter"/>
              </a:rPr>
              <a:t>Enterprise AI stack (₹20L</a:t>
            </a:r>
            <a:r>
              <a:rPr lang="en-US" sz="1000" b="0" dirty="0">
                <a:solidFill>
                  <a:srgbClr val="95A3A0"/>
                </a:solidFill>
                <a:latin typeface="Inter"/>
              </a:rPr>
              <a:t> or $21,000 </a:t>
            </a:r>
            <a:r>
              <a:rPr sz="1000" b="0" dirty="0">
                <a:solidFill>
                  <a:srgbClr val="95A3A0"/>
                </a:solidFill>
                <a:latin typeface="Inter"/>
              </a:rPr>
              <a:t>), privacy audits &amp; legal (₹15L</a:t>
            </a:r>
            <a:r>
              <a:rPr lang="en-US" sz="1000" b="0" dirty="0">
                <a:solidFill>
                  <a:srgbClr val="95A3A0"/>
                </a:solidFill>
                <a:latin typeface="Inter"/>
              </a:rPr>
              <a:t> or $16,000</a:t>
            </a:r>
            <a:r>
              <a:rPr sz="1000" b="0" dirty="0">
                <a:solidFill>
                  <a:srgbClr val="95A3A0"/>
                </a:solidFill>
                <a:latin typeface="Inter"/>
              </a:rPr>
              <a:t>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3657600"/>
            <a:ext cx="3017520" cy="256032"/>
          </a:xfrm>
          <a:prstGeom prst="roundRect">
            <a:avLst>
              <a:gd name="adj" fmla="val 8000"/>
            </a:avLst>
          </a:prstGeom>
          <a:solidFill>
            <a:srgbClr val="14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663440" y="3657600"/>
            <a:ext cx="1131570" cy="256032"/>
          </a:xfrm>
          <a:prstGeom prst="roundRect">
            <a:avLst>
              <a:gd name="adj" fmla="val 8000"/>
            </a:avLst>
          </a:prstGeom>
          <a:solidFill>
            <a:srgbClr val="7EA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49372" y="3959352"/>
            <a:ext cx="3017520" cy="1896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dirty="0">
                <a:solidFill>
                  <a:srgbClr val="7EAAA0"/>
                </a:solidFill>
                <a:latin typeface="Inter"/>
              </a:rPr>
              <a:t>15%  ·  ₹35L</a:t>
            </a:r>
            <a:r>
              <a:rPr lang="en-US" sz="1100" b="1" dirty="0">
                <a:solidFill>
                  <a:srgbClr val="7EAAA0"/>
                </a:solidFill>
                <a:latin typeface="Inter"/>
              </a:rPr>
              <a:t> or $37,000</a:t>
            </a:r>
            <a:endParaRPr sz="1100" b="1" dirty="0">
              <a:solidFill>
                <a:srgbClr val="7EAAA0"/>
              </a:solidFill>
              <a:latin typeface="Inter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8640" y="4407408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AEFED"/>
                </a:solidFill>
                <a:latin typeface="Inter"/>
              </a:rPr>
              <a:t>Lean GTM &amp; Acquisition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681728"/>
            <a:ext cx="4023360" cy="3704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dirty="0">
                <a:solidFill>
                  <a:srgbClr val="95A3A0"/>
                </a:solidFill>
                <a:latin typeface="Inter"/>
              </a:rPr>
              <a:t>Events &amp; community</a:t>
            </a:r>
            <a:r>
              <a:rPr lang="en-US" sz="1000" b="0" dirty="0">
                <a:solidFill>
                  <a:srgbClr val="95A3A0"/>
                </a:solidFill>
                <a:latin typeface="Inter"/>
              </a:rPr>
              <a:t> </a:t>
            </a:r>
            <a:r>
              <a:rPr lang="en-US" sz="1000" b="0" dirty="0" err="1">
                <a:solidFill>
                  <a:srgbClr val="95A3A0"/>
                </a:solidFill>
                <a:latin typeface="Inter"/>
              </a:rPr>
              <a:t>partnerhsips</a:t>
            </a:r>
            <a:r>
              <a:rPr sz="1000" b="0" dirty="0">
                <a:solidFill>
                  <a:srgbClr val="95A3A0"/>
                </a:solidFill>
                <a:latin typeface="Inter"/>
              </a:rPr>
              <a:t> (₹5L</a:t>
            </a:r>
            <a:r>
              <a:rPr lang="en-US" sz="1000" b="0" dirty="0">
                <a:solidFill>
                  <a:srgbClr val="95A3A0"/>
                </a:solidFill>
                <a:latin typeface="Inter"/>
              </a:rPr>
              <a:t> or $5300</a:t>
            </a:r>
            <a:r>
              <a:rPr sz="1000" b="0" dirty="0">
                <a:solidFill>
                  <a:srgbClr val="95A3A0"/>
                </a:solidFill>
                <a:latin typeface="Inter"/>
              </a:rPr>
              <a:t>), targeted growth marketing (₹18L</a:t>
            </a:r>
            <a:r>
              <a:rPr lang="en-US" sz="1000" b="0" dirty="0">
                <a:solidFill>
                  <a:srgbClr val="95A3A0"/>
                </a:solidFill>
                <a:latin typeface="Inter"/>
              </a:rPr>
              <a:t> or $19,000</a:t>
            </a:r>
            <a:r>
              <a:rPr sz="1000" b="0" dirty="0">
                <a:solidFill>
                  <a:srgbClr val="95A3A0"/>
                </a:solidFill>
                <a:latin typeface="Inter"/>
              </a:rPr>
              <a:t>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3440" y="4517136"/>
            <a:ext cx="3017520" cy="256032"/>
          </a:xfrm>
          <a:prstGeom prst="roundRect">
            <a:avLst>
              <a:gd name="adj" fmla="val 8000"/>
            </a:avLst>
          </a:prstGeom>
          <a:solidFill>
            <a:srgbClr val="14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663440" y="4517136"/>
            <a:ext cx="754380" cy="256032"/>
          </a:xfrm>
          <a:prstGeom prst="roundRect">
            <a:avLst>
              <a:gd name="adj" fmla="val 8000"/>
            </a:avLst>
          </a:prstGeom>
          <a:solidFill>
            <a:srgbClr val="7EA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63440" y="4818888"/>
            <a:ext cx="3017520" cy="1896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dirty="0">
                <a:solidFill>
                  <a:srgbClr val="7EAAA0"/>
                </a:solidFill>
                <a:latin typeface="Inter"/>
              </a:rPr>
              <a:t>10%  ·  ₹23L</a:t>
            </a:r>
            <a:r>
              <a:rPr lang="en-US" sz="1100" b="1" dirty="0">
                <a:solidFill>
                  <a:srgbClr val="7EAAA0"/>
                </a:solidFill>
                <a:latin typeface="Inter"/>
              </a:rPr>
              <a:t> or $24,400</a:t>
            </a:r>
            <a:endParaRPr sz="1100" b="1" dirty="0">
              <a:solidFill>
                <a:srgbClr val="7EAAA0"/>
              </a:solidFill>
              <a:latin typeface="Inter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8640" y="5266944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AEFED"/>
                </a:solidFill>
                <a:latin typeface="Inter"/>
              </a:rPr>
              <a:t>Headway &amp; Contingency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541264"/>
            <a:ext cx="4023360" cy="1781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dirty="0">
                <a:solidFill>
                  <a:srgbClr val="95A3A0"/>
                </a:solidFill>
                <a:latin typeface="Inter"/>
              </a:rPr>
              <a:t>War chest for</a:t>
            </a:r>
            <a:r>
              <a:rPr lang="en-US" sz="1000" dirty="0">
                <a:solidFill>
                  <a:srgbClr val="95A3A0"/>
                </a:solidFill>
                <a:latin typeface="Inter"/>
              </a:rPr>
              <a:t> </a:t>
            </a:r>
            <a:r>
              <a:rPr lang="en-US" sz="1000" dirty="0" err="1">
                <a:solidFill>
                  <a:srgbClr val="95A3A0"/>
                </a:solidFill>
                <a:latin typeface="Inter"/>
              </a:rPr>
              <a:t>misc</a:t>
            </a:r>
            <a:r>
              <a:rPr lang="en-US" sz="1000" dirty="0">
                <a:solidFill>
                  <a:srgbClr val="95A3A0"/>
                </a:solidFill>
                <a:latin typeface="Inter"/>
              </a:rPr>
              <a:t> expenses</a:t>
            </a:r>
            <a:r>
              <a:rPr sz="1000" b="0" dirty="0">
                <a:solidFill>
                  <a:srgbClr val="95A3A0"/>
                </a:solidFill>
                <a:latin typeface="Inter"/>
              </a:rPr>
              <a:t>, runway extension, optional office in Yr 2.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5376672"/>
            <a:ext cx="3017520" cy="256032"/>
          </a:xfrm>
          <a:prstGeom prst="roundRect">
            <a:avLst>
              <a:gd name="adj" fmla="val 8000"/>
            </a:avLst>
          </a:prstGeom>
          <a:solidFill>
            <a:srgbClr val="14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663440" y="5376672"/>
            <a:ext cx="1357884" cy="256032"/>
          </a:xfrm>
          <a:prstGeom prst="roundRect">
            <a:avLst>
              <a:gd name="adj" fmla="val 8000"/>
            </a:avLst>
          </a:prstGeom>
          <a:solidFill>
            <a:srgbClr val="7EA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63440" y="5678424"/>
            <a:ext cx="3017520" cy="1896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dirty="0">
                <a:solidFill>
                  <a:srgbClr val="7EAAA0"/>
                </a:solidFill>
                <a:latin typeface="Inter"/>
              </a:rPr>
              <a:t>18%  ·  ₹41L</a:t>
            </a:r>
            <a:r>
              <a:rPr lang="en-US" sz="1100" b="1" dirty="0">
                <a:solidFill>
                  <a:srgbClr val="7EAAA0"/>
                </a:solidFill>
                <a:latin typeface="Inter"/>
              </a:rPr>
              <a:t> or $43,500</a:t>
            </a:r>
            <a:endParaRPr sz="1100" b="1" dirty="0">
              <a:solidFill>
                <a:srgbClr val="7EAAA0"/>
              </a:solidFill>
              <a:latin typeface="Inter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229600" y="1828800"/>
            <a:ext cx="3429000" cy="4297680"/>
          </a:xfrm>
          <a:prstGeom prst="roundRect">
            <a:avLst>
              <a:gd name="adj" fmla="val 8000"/>
            </a:avLst>
          </a:prstGeom>
          <a:solidFill>
            <a:srgbClr val="14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503920" y="2103120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7EAAA0"/>
                </a:solidFill>
                <a:latin typeface="Inter"/>
              </a:rPr>
              <a:t>AT A GLANCE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260604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dirty="0">
                <a:solidFill>
                  <a:srgbClr val="EAEFED"/>
                </a:solidFill>
                <a:latin typeface="Inter"/>
              </a:rPr>
              <a:t>$250K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3108960"/>
            <a:ext cx="2880360" cy="1723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dirty="0">
                <a:solidFill>
                  <a:srgbClr val="95A3A0"/>
                </a:solidFill>
                <a:latin typeface="Inter"/>
              </a:rPr>
              <a:t>Pre-seed round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24494" y="3514813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dirty="0">
                <a:solidFill>
                  <a:srgbClr val="EAEFED"/>
                </a:solidFill>
                <a:latin typeface="Inter"/>
              </a:rPr>
              <a:t>18–24 </a:t>
            </a:r>
            <a:r>
              <a:rPr sz="2600" b="1" dirty="0" err="1">
                <a:solidFill>
                  <a:srgbClr val="EAEFED"/>
                </a:solidFill>
                <a:latin typeface="Inter"/>
              </a:rPr>
              <a:t>mo</a:t>
            </a:r>
            <a:endParaRPr sz="2600" b="1" dirty="0">
              <a:solidFill>
                <a:srgbClr val="EAEFED"/>
              </a:solidFill>
              <a:latin typeface="Inter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503920" y="4089944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dirty="0">
                <a:solidFill>
                  <a:srgbClr val="95A3A0"/>
                </a:solidFill>
                <a:latin typeface="Inter"/>
              </a:rPr>
              <a:t>Runway with lean core team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24494" y="4410662"/>
            <a:ext cx="2880360" cy="4480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dirty="0">
                <a:solidFill>
                  <a:srgbClr val="EAEFED"/>
                </a:solidFill>
                <a:latin typeface="Inter"/>
              </a:rPr>
              <a:t>0.</a:t>
            </a:r>
            <a:r>
              <a:rPr lang="en-US" sz="2600" b="1" dirty="0">
                <a:solidFill>
                  <a:srgbClr val="EAEFED"/>
                </a:solidFill>
                <a:latin typeface="Inter"/>
              </a:rPr>
              <a:t>3</a:t>
            </a:r>
            <a:r>
              <a:rPr sz="2600" b="1" dirty="0">
                <a:solidFill>
                  <a:srgbClr val="EAEFED"/>
                </a:solidFill>
                <a:latin typeface="Inter"/>
              </a:rPr>
              <a:t>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24494" y="4927913"/>
            <a:ext cx="2880360" cy="1723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dirty="0">
                <a:solidFill>
                  <a:srgbClr val="95A3A0"/>
                </a:solidFill>
                <a:latin typeface="Inter"/>
              </a:rPr>
              <a:t>Of SOM = $</a:t>
            </a:r>
            <a:r>
              <a:rPr lang="en-US" sz="1000" dirty="0">
                <a:solidFill>
                  <a:srgbClr val="95A3A0"/>
                </a:solidFill>
                <a:latin typeface="Inter"/>
              </a:rPr>
              <a:t>18</a:t>
            </a:r>
            <a:r>
              <a:rPr sz="1000" b="0" dirty="0">
                <a:solidFill>
                  <a:srgbClr val="95A3A0"/>
                </a:solidFill>
                <a:latin typeface="Inter"/>
              </a:rPr>
              <a:t>M ARR potential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6355080"/>
            <a:ext cx="11094415" cy="8000"/>
          </a:xfrm>
          <a:prstGeom prst="rect">
            <a:avLst/>
          </a:prstGeom>
          <a:solidFill>
            <a:srgbClr val="263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7EAAA0"/>
                </a:solidFill>
                <a:latin typeface="Inter"/>
              </a:rPr>
              <a:t>ANCHOR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06240" y="6473952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95A3A0"/>
                </a:solidFill>
                <a:latin typeface="Inter"/>
              </a:rPr>
              <a:t>The Ask &amp; Use of Funds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95A3A0"/>
                </a:solidFill>
                <a:latin typeface="Inter"/>
              </a:rPr>
              <a:t>09 /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ancho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188720"/>
            <a:ext cx="4023360" cy="4023360"/>
          </a:xfrm>
          <a:prstGeom prst="rect">
            <a:avLst/>
          </a:prstGeom>
        </p:spPr>
      </p:pic>
      <p:pic>
        <p:nvPicPr>
          <p:cNvPr id="4" name="Picture 3" descr="ancho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5486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AEFED"/>
                </a:solidFill>
                <a:latin typeface="Inter"/>
              </a:rPr>
              <a:t>ANCHOR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481328"/>
            <a:ext cx="109728" cy="109728"/>
          </a:xfrm>
          <a:prstGeom prst="ellipse">
            <a:avLst/>
          </a:prstGeom>
          <a:solidFill>
            <a:srgbClr val="7EA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7EAAA0"/>
                </a:solidFill>
                <a:latin typeface="Inter"/>
              </a:rPr>
              <a:t>THE 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73152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dirty="0">
                <a:solidFill>
                  <a:srgbClr val="EAEFED"/>
                </a:solidFill>
                <a:latin typeface="Inter"/>
              </a:rPr>
              <a:t>We aren't just building for a market.</a:t>
            </a:r>
          </a:p>
          <a:p>
            <a:pPr algn="l">
              <a:lnSpc>
                <a:spcPct val="115000"/>
              </a:lnSpc>
            </a:pPr>
            <a:r>
              <a:rPr sz="3400" b="1" dirty="0">
                <a:solidFill>
                  <a:srgbClr val="EAEFED"/>
                </a:solidFill>
                <a:latin typeface="Inter"/>
              </a:rPr>
              <a:t>We are building for ourselves.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7EAAA0"/>
                </a:solidFill>
                <a:latin typeface="Inter"/>
              </a:rPr>
              <a:t>—  Founder–market 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813048"/>
            <a:ext cx="6675120" cy="2022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dirty="0">
                <a:solidFill>
                  <a:srgbClr val="95A3A0"/>
                </a:solidFill>
                <a:latin typeface="Inter"/>
              </a:rPr>
              <a:t>Gen Z founders in research, corporate, and high-stakes competitive arenas. We live the baseline stress we're solving.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25112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7EAAA0"/>
                </a:solidFill>
                <a:latin typeface="Inter"/>
              </a:rPr>
              <a:t>—  Reality of high performers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17720"/>
            <a:ext cx="6675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dirty="0">
                <a:solidFill>
                  <a:srgbClr val="95A3A0"/>
                </a:solidFill>
                <a:latin typeface="Inter"/>
              </a:rPr>
              <a:t>Stressed people don't open meditation apps. They put their heads down and push through until they break.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129784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7EAAA0"/>
                </a:solidFill>
                <a:latin typeface="Inter"/>
              </a:rPr>
              <a:t>—  What Anchor 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422392"/>
            <a:ext cx="6675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dirty="0">
                <a:solidFill>
                  <a:srgbClr val="95A3A0"/>
                </a:solidFill>
                <a:latin typeface="Inter"/>
              </a:rPr>
              <a:t>The tool we desperately needed — a proactive, private safety net that watches our backs so we don't have to.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989320"/>
            <a:ext cx="11064240" cy="640080"/>
          </a:xfrm>
          <a:prstGeom prst="roundRect">
            <a:avLst>
              <a:gd name="adj" fmla="val 8000"/>
            </a:avLst>
          </a:prstGeom>
          <a:solidFill>
            <a:srgbClr val="141C1C"/>
          </a:solidFill>
          <a:ln w="9525">
            <a:solidFill>
              <a:srgbClr val="7EAA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608076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7EAAA0"/>
                </a:solidFill>
                <a:latin typeface="Inter"/>
              </a:rPr>
              <a:t>The 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240780"/>
            <a:ext cx="7315200" cy="2068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>
                <a:solidFill>
                  <a:srgbClr val="EAEFED"/>
                </a:solidFill>
                <a:latin typeface="Inter"/>
              </a:rPr>
              <a:t>Raising $250,000 pre-seed to fund closed beta and scale to 10,000 users.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608076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>
                <a:solidFill>
                  <a:srgbClr val="EAEFED"/>
                </a:solidFill>
                <a:latin typeface="Inter"/>
              </a:rPr>
              <a:t>Aryan Jain  ·  Founder / CEO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30936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>
                <a:solidFill>
                  <a:srgbClr val="EAEFED"/>
                </a:solidFill>
                <a:latin typeface="Inter"/>
              </a:rPr>
              <a:t>Tanmay Kukreja  ·  Co-Founder / CTO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7EAAA0"/>
                </a:solidFill>
                <a:latin typeface="Inter"/>
              </a:rPr>
              <a:t>ANCHOR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6473952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95A3A0"/>
                </a:solidFill>
                <a:latin typeface="Inter"/>
              </a:rPr>
              <a:t>Vision &amp; Ask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95A3A0"/>
                </a:solidFill>
                <a:latin typeface="Inter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1779</Words>
  <Application>Microsoft Macintosh PowerPoint</Application>
  <PresentationFormat>Widescreen</PresentationFormat>
  <Paragraphs>270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Aryan Jain</cp:lastModifiedBy>
  <cp:revision>3</cp:revision>
  <dcterms:created xsi:type="dcterms:W3CDTF">2013-01-27T09:14:16Z</dcterms:created>
  <dcterms:modified xsi:type="dcterms:W3CDTF">2026-04-24T19:08:56Z</dcterms:modified>
  <cp:category/>
</cp:coreProperties>
</file>